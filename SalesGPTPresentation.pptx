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70" r:id="rId8"/>
    <p:sldId id="269" r:id="rId9"/>
    <p:sldId id="274" r:id="rId10"/>
    <p:sldId id="262" r:id="rId11"/>
    <p:sldId id="263" r:id="rId12"/>
    <p:sldId id="264" r:id="rId13"/>
    <p:sldId id="267" r:id="rId14"/>
    <p:sldId id="271" r:id="rId15"/>
    <p:sldId id="272" r:id="rId16"/>
    <p:sldId id="273" r:id="rId17"/>
    <p:sldId id="268" r:id="rId18"/>
    <p:sldId id="265" r:id="rId19"/>
    <p:sldId id="266"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498"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2940E26-1BFB-4BC3-A471-4350E1CC52C5}"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6C6C9-29E3-4C4A-A884-EC907AF1AA96}" type="slidenum">
              <a:rPr lang="en-US" smtClean="0"/>
              <a:t>‹#›</a:t>
            </a:fld>
            <a:endParaRPr lang="en-US"/>
          </a:p>
        </p:txBody>
      </p:sp>
    </p:spTree>
    <p:extLst>
      <p:ext uri="{BB962C8B-B14F-4D97-AF65-F5344CB8AC3E}">
        <p14:creationId xmlns:p14="http://schemas.microsoft.com/office/powerpoint/2010/main" val="1697120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2940E26-1BFB-4BC3-A471-4350E1CC52C5}"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6C6C9-29E3-4C4A-A884-EC907AF1AA96}" type="slidenum">
              <a:rPr lang="en-US" smtClean="0"/>
              <a:t>‹#›</a:t>
            </a:fld>
            <a:endParaRPr lang="en-US"/>
          </a:p>
        </p:txBody>
      </p:sp>
    </p:spTree>
    <p:extLst>
      <p:ext uri="{BB962C8B-B14F-4D97-AF65-F5344CB8AC3E}">
        <p14:creationId xmlns:p14="http://schemas.microsoft.com/office/powerpoint/2010/main" val="3805873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940E26-1BFB-4BC3-A471-4350E1CC52C5}"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6C6C9-29E3-4C4A-A884-EC907AF1AA96}" type="slidenum">
              <a:rPr lang="en-US" smtClean="0"/>
              <a:t>‹#›</a:t>
            </a:fld>
            <a:endParaRPr lang="en-US"/>
          </a:p>
        </p:txBody>
      </p:sp>
    </p:spTree>
    <p:extLst>
      <p:ext uri="{BB962C8B-B14F-4D97-AF65-F5344CB8AC3E}">
        <p14:creationId xmlns:p14="http://schemas.microsoft.com/office/powerpoint/2010/main" val="226788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2940E26-1BFB-4BC3-A471-4350E1CC52C5}" type="datetimeFigureOut">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D6C6C9-29E3-4C4A-A884-EC907AF1AA96}" type="slidenum">
              <a:rPr lang="en-US" smtClean="0"/>
              <a:t>‹#›</a:t>
            </a:fld>
            <a:endParaRPr lang="en-US"/>
          </a:p>
        </p:txBody>
      </p:sp>
    </p:spTree>
    <p:extLst>
      <p:ext uri="{BB962C8B-B14F-4D97-AF65-F5344CB8AC3E}">
        <p14:creationId xmlns:p14="http://schemas.microsoft.com/office/powerpoint/2010/main" val="3279079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2940E26-1BFB-4BC3-A471-4350E1CC52C5}" type="datetimeFigureOut">
              <a:rPr lang="en-US" smtClean="0"/>
              <a:t>3/18/2026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D6C6C9-29E3-4C4A-A884-EC907AF1AA96}" type="slidenum">
              <a:rPr lang="en-US" smtClean="0"/>
              <a:t>‹#›</a:t>
            </a:fld>
            <a:endParaRPr lang="en-US"/>
          </a:p>
        </p:txBody>
      </p:sp>
    </p:spTree>
    <p:extLst>
      <p:ext uri="{BB962C8B-B14F-4D97-AF65-F5344CB8AC3E}">
        <p14:creationId xmlns:p14="http://schemas.microsoft.com/office/powerpoint/2010/main" val="988164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2940E26-1BFB-4BC3-A471-4350E1CC52C5}" type="datetimeFigureOut">
              <a:rPr lang="en-US" smtClean="0"/>
              <a:t>3/18/2026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D6C6C9-29E3-4C4A-A884-EC907AF1AA96}" type="slidenum">
              <a:rPr lang="en-US" smtClean="0"/>
              <a:t>‹#›</a:t>
            </a:fld>
            <a:endParaRPr lang="en-US"/>
          </a:p>
        </p:txBody>
      </p:sp>
    </p:spTree>
    <p:extLst>
      <p:ext uri="{BB962C8B-B14F-4D97-AF65-F5344CB8AC3E}">
        <p14:creationId xmlns:p14="http://schemas.microsoft.com/office/powerpoint/2010/main" val="3296703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940E26-1BFB-4BC3-A471-4350E1CC52C5}" type="datetimeFigureOut">
              <a:rPr lang="en-US" smtClean="0"/>
              <a:t>3/18/2026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D6C6C9-29E3-4C4A-A884-EC907AF1AA96}" type="slidenum">
              <a:rPr lang="en-US" smtClean="0"/>
              <a:t>‹#›</a:t>
            </a:fld>
            <a:endParaRPr lang="en-US"/>
          </a:p>
        </p:txBody>
      </p:sp>
    </p:spTree>
    <p:extLst>
      <p:ext uri="{BB962C8B-B14F-4D97-AF65-F5344CB8AC3E}">
        <p14:creationId xmlns:p14="http://schemas.microsoft.com/office/powerpoint/2010/main" val="2193711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2940E26-1BFB-4BC3-A471-4350E1CC52C5}" type="datetimeFigureOut">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D6C6C9-29E3-4C4A-A884-EC907AF1AA96}" type="slidenum">
              <a:rPr lang="en-US" smtClean="0"/>
              <a:t>‹#›</a:t>
            </a:fld>
            <a:endParaRPr lang="en-US"/>
          </a:p>
        </p:txBody>
      </p:sp>
    </p:spTree>
    <p:extLst>
      <p:ext uri="{BB962C8B-B14F-4D97-AF65-F5344CB8AC3E}">
        <p14:creationId xmlns:p14="http://schemas.microsoft.com/office/powerpoint/2010/main" val="3611436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2940E26-1BFB-4BC3-A471-4350E1CC52C5}" type="datetimeFigureOut">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D6C6C9-29E3-4C4A-A884-EC907AF1AA96}" type="slidenum">
              <a:rPr lang="en-US" smtClean="0"/>
              <a:t>‹#›</a:t>
            </a:fld>
            <a:endParaRPr lang="en-US"/>
          </a:p>
        </p:txBody>
      </p:sp>
    </p:spTree>
    <p:extLst>
      <p:ext uri="{BB962C8B-B14F-4D97-AF65-F5344CB8AC3E}">
        <p14:creationId xmlns:p14="http://schemas.microsoft.com/office/powerpoint/2010/main" val="2823073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2940E26-1BFB-4BC3-A471-4350E1CC52C5}"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6C6C9-29E3-4C4A-A884-EC907AF1AA96}" type="slidenum">
              <a:rPr lang="en-US" smtClean="0"/>
              <a:t>‹#›</a:t>
            </a:fld>
            <a:endParaRPr lang="en-US"/>
          </a:p>
        </p:txBody>
      </p:sp>
    </p:spTree>
    <p:extLst>
      <p:ext uri="{BB962C8B-B14F-4D97-AF65-F5344CB8AC3E}">
        <p14:creationId xmlns:p14="http://schemas.microsoft.com/office/powerpoint/2010/main" val="569719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2940E26-1BFB-4BC3-A471-4350E1CC52C5}"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6C6C9-29E3-4C4A-A884-EC907AF1AA96}" type="slidenum">
              <a:rPr lang="en-US" smtClean="0"/>
              <a:t>‹#›</a:t>
            </a:fld>
            <a:endParaRPr lang="en-US"/>
          </a:p>
        </p:txBody>
      </p:sp>
    </p:spTree>
    <p:extLst>
      <p:ext uri="{BB962C8B-B14F-4D97-AF65-F5344CB8AC3E}">
        <p14:creationId xmlns:p14="http://schemas.microsoft.com/office/powerpoint/2010/main" val="4275654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940E26-1BFB-4BC3-A471-4350E1CC52C5}" type="datetimeFigureOut">
              <a:rPr lang="en-US" smtClean="0"/>
              <a:t>3/18/2026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D6C6C9-29E3-4C4A-A884-EC907AF1AA96}" type="slidenum">
              <a:rPr lang="en-US" smtClean="0"/>
              <a:t>‹#›</a:t>
            </a:fld>
            <a:endParaRPr lang="en-US"/>
          </a:p>
        </p:txBody>
      </p:sp>
    </p:spTree>
    <p:extLst>
      <p:ext uri="{BB962C8B-B14F-4D97-AF65-F5344CB8AC3E}">
        <p14:creationId xmlns:p14="http://schemas.microsoft.com/office/powerpoint/2010/main" val="39253373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9743" y="21771"/>
            <a:ext cx="740229" cy="905018"/>
          </a:xfrm>
          <a:prstGeom prst="rect">
            <a:avLst/>
          </a:prstGeom>
        </p:spPr>
      </p:pic>
      <p:sp>
        <p:nvSpPr>
          <p:cNvPr id="9" name="TextBox 8"/>
          <p:cNvSpPr txBox="1"/>
          <p:nvPr/>
        </p:nvSpPr>
        <p:spPr>
          <a:xfrm>
            <a:off x="859972" y="152400"/>
            <a:ext cx="8055428" cy="615553"/>
          </a:xfrm>
          <a:prstGeom prst="rect">
            <a:avLst/>
          </a:prstGeom>
          <a:noFill/>
        </p:spPr>
        <p:txBody>
          <a:bodyPr wrap="square" rtlCol="0">
            <a:spAutoFit/>
          </a:bodyPr>
          <a:lstStyle/>
          <a:p>
            <a:pPr algn="ctr"/>
            <a:r>
              <a:rPr lang="en-US" sz="2000" b="1" dirty="0">
                <a:solidFill>
                  <a:srgbClr val="FF0000"/>
                </a:solidFill>
                <a:latin typeface="Arial" pitchFamily="34" charset="0"/>
                <a:cs typeface="Arial" pitchFamily="34" charset="0"/>
              </a:rPr>
              <a:t>K.L.N. COLLEGE OF ENGINEERING, POTTAPALAYAM – 630 612. </a:t>
            </a:r>
          </a:p>
          <a:p>
            <a:pPr algn="ctr"/>
            <a:r>
              <a:rPr lang="en-US" sz="1400" b="1" dirty="0">
                <a:latin typeface="Arial" pitchFamily="34" charset="0"/>
                <a:cs typeface="Arial" pitchFamily="34" charset="0"/>
              </a:rPr>
              <a:t>(An Autonomous Institution Affiliated to Anna University, Chennai)</a:t>
            </a:r>
            <a:endParaRPr lang="en-US" b="1" dirty="0">
              <a:latin typeface="Arial" pitchFamily="34" charset="0"/>
              <a:cs typeface="Arial" pitchFamily="34" charset="0"/>
            </a:endParaRPr>
          </a:p>
        </p:txBody>
      </p:sp>
      <p:sp>
        <p:nvSpPr>
          <p:cNvPr id="10" name="TextBox 9"/>
          <p:cNvSpPr txBox="1"/>
          <p:nvPr/>
        </p:nvSpPr>
        <p:spPr>
          <a:xfrm>
            <a:off x="413657" y="926068"/>
            <a:ext cx="8501743" cy="369332"/>
          </a:xfrm>
          <a:prstGeom prst="rect">
            <a:avLst/>
          </a:prstGeom>
          <a:noFill/>
        </p:spPr>
        <p:txBody>
          <a:bodyPr wrap="square" rtlCol="0">
            <a:spAutoFit/>
          </a:bodyPr>
          <a:lstStyle/>
          <a:p>
            <a:pPr algn="ctr"/>
            <a:r>
              <a:rPr lang="en-US" b="1" dirty="0">
                <a:solidFill>
                  <a:srgbClr val="000099"/>
                </a:solidFill>
                <a:latin typeface="Arial" pitchFamily="34" charset="0"/>
                <a:cs typeface="Arial" pitchFamily="34" charset="0"/>
              </a:rPr>
              <a:t>DEPARTMENT OF ARTIFICIAL INTELLIGENCE &amp; DATA SCIENCE</a:t>
            </a:r>
          </a:p>
        </p:txBody>
      </p:sp>
      <p:sp>
        <p:nvSpPr>
          <p:cNvPr id="11" name="TextBox 10"/>
          <p:cNvSpPr txBox="1"/>
          <p:nvPr/>
        </p:nvSpPr>
        <p:spPr>
          <a:xfrm>
            <a:off x="381000" y="1459468"/>
            <a:ext cx="8501743" cy="369332"/>
          </a:xfrm>
          <a:prstGeom prst="rect">
            <a:avLst/>
          </a:prstGeom>
          <a:noFill/>
        </p:spPr>
        <p:txBody>
          <a:bodyPr wrap="square" rtlCol="0">
            <a:spAutoFit/>
          </a:bodyPr>
          <a:lstStyle/>
          <a:p>
            <a:pPr algn="ctr"/>
            <a:r>
              <a:rPr lang="en-US" b="1" dirty="0">
                <a:latin typeface="Arial" pitchFamily="34" charset="0"/>
                <a:cs typeface="Arial" pitchFamily="34" charset="0"/>
              </a:rPr>
              <a:t>Final Year Project</a:t>
            </a:r>
          </a:p>
        </p:txBody>
      </p:sp>
      <p:sp>
        <p:nvSpPr>
          <p:cNvPr id="12" name="TextBox 11"/>
          <p:cNvSpPr txBox="1"/>
          <p:nvPr/>
        </p:nvSpPr>
        <p:spPr>
          <a:xfrm>
            <a:off x="381000" y="2286000"/>
            <a:ext cx="8501743" cy="830997"/>
          </a:xfrm>
          <a:prstGeom prst="rect">
            <a:avLst/>
          </a:prstGeom>
          <a:noFill/>
        </p:spPr>
        <p:txBody>
          <a:bodyPr wrap="square" rtlCol="0">
            <a:spAutoFit/>
          </a:bodyPr>
          <a:lstStyle/>
          <a:p>
            <a:pPr algn="ctr"/>
            <a:r>
              <a:rPr lang="en-US" sz="2400" b="1" dirty="0" err="1">
                <a:latin typeface="Bahnschrift" panose="020B0502040204020203" pitchFamily="34" charset="0"/>
              </a:rPr>
              <a:t>SalesGPT</a:t>
            </a:r>
            <a:r>
              <a:rPr lang="en-US" sz="2400" b="1" dirty="0">
                <a:latin typeface="Bahnschrift" panose="020B0502040204020203" pitchFamily="34" charset="0"/>
              </a:rPr>
              <a:t>: An Asynchronous Dual-Track Agentic Framework for Autonomous Lead Qualification and Intent Scoring</a:t>
            </a:r>
            <a:endParaRPr lang="en-US" sz="2400" b="1" dirty="0">
              <a:solidFill>
                <a:srgbClr val="FF0000"/>
              </a:solidFill>
              <a:latin typeface="Bahnschrift" panose="020B0502040204020203" pitchFamily="34" charset="0"/>
              <a:cs typeface="Arial" pitchFamily="34" charset="0"/>
            </a:endParaRPr>
          </a:p>
        </p:txBody>
      </p:sp>
      <p:sp>
        <p:nvSpPr>
          <p:cNvPr id="13" name="TextBox 12"/>
          <p:cNvSpPr txBox="1"/>
          <p:nvPr/>
        </p:nvSpPr>
        <p:spPr>
          <a:xfrm>
            <a:off x="381000" y="3733800"/>
            <a:ext cx="8501743" cy="1015663"/>
          </a:xfrm>
          <a:prstGeom prst="rect">
            <a:avLst/>
          </a:prstGeom>
          <a:noFill/>
        </p:spPr>
        <p:txBody>
          <a:bodyPr wrap="square" rtlCol="0">
            <a:spAutoFit/>
          </a:bodyPr>
          <a:lstStyle/>
          <a:p>
            <a:pPr algn="ctr"/>
            <a:r>
              <a:rPr lang="en-US" sz="2000" b="1" dirty="0">
                <a:latin typeface="Bahnschrift SemiBold Condensed" panose="020B0502040204020203" pitchFamily="34" charset="0"/>
                <a:cs typeface="Arial" pitchFamily="34" charset="0"/>
              </a:rPr>
              <a:t>Shyam J – 910622108050</a:t>
            </a:r>
          </a:p>
          <a:p>
            <a:pPr algn="ctr"/>
            <a:r>
              <a:rPr lang="en-US" sz="2000" b="1" dirty="0">
                <a:latin typeface="Bahnschrift SemiBold Condensed" panose="020B0502040204020203" pitchFamily="34" charset="0"/>
                <a:cs typeface="Arial" pitchFamily="34" charset="0"/>
              </a:rPr>
              <a:t>Dhatchin SS – 910622108008</a:t>
            </a:r>
          </a:p>
          <a:p>
            <a:pPr algn="ctr"/>
            <a:r>
              <a:rPr lang="en-US" sz="2000" b="1" dirty="0">
                <a:latin typeface="Bahnschrift SemiBold Condensed" panose="020B0502040204020203" pitchFamily="34" charset="0"/>
                <a:cs typeface="Arial" pitchFamily="34" charset="0"/>
              </a:rPr>
              <a:t> Omprakash BS - 910622108035</a:t>
            </a:r>
          </a:p>
        </p:txBody>
      </p:sp>
      <p:sp>
        <p:nvSpPr>
          <p:cNvPr id="14" name="TextBox 13"/>
          <p:cNvSpPr txBox="1"/>
          <p:nvPr/>
        </p:nvSpPr>
        <p:spPr>
          <a:xfrm>
            <a:off x="304799" y="5116286"/>
            <a:ext cx="8501743" cy="830997"/>
          </a:xfrm>
          <a:prstGeom prst="rect">
            <a:avLst/>
          </a:prstGeom>
          <a:noFill/>
        </p:spPr>
        <p:txBody>
          <a:bodyPr wrap="square" rtlCol="0">
            <a:spAutoFit/>
          </a:bodyPr>
          <a:lstStyle/>
          <a:p>
            <a:pPr algn="ctr"/>
            <a:r>
              <a:rPr lang="en-US" sz="2400" b="1" dirty="0">
                <a:latin typeface="Bahnschrift SemiBold Condensed" panose="020B0502040204020203" pitchFamily="34" charset="0"/>
                <a:cs typeface="Arial" pitchFamily="34" charset="0"/>
              </a:rPr>
              <a:t>Guide Name</a:t>
            </a:r>
          </a:p>
          <a:p>
            <a:pPr algn="ctr"/>
            <a:r>
              <a:rPr lang="en-US" sz="2400" b="1" dirty="0">
                <a:latin typeface="Bahnschrift SemiBold Condensed" panose="020B0502040204020203" pitchFamily="34" charset="0"/>
                <a:cs typeface="Arial" pitchFamily="34" charset="0"/>
              </a:rPr>
              <a:t>Dr. S. Suresh Raja </a:t>
            </a:r>
          </a:p>
        </p:txBody>
      </p:sp>
    </p:spTree>
    <p:extLst>
      <p:ext uri="{BB962C8B-B14F-4D97-AF65-F5344CB8AC3E}">
        <p14:creationId xmlns:p14="http://schemas.microsoft.com/office/powerpoint/2010/main" val="583071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152400"/>
            <a:ext cx="8915400" cy="400110"/>
          </a:xfrm>
          <a:prstGeom prst="rect">
            <a:avLst/>
          </a:prstGeom>
          <a:noFill/>
        </p:spPr>
        <p:txBody>
          <a:bodyPr wrap="square" rtlCol="0">
            <a:spAutoFit/>
          </a:bodyPr>
          <a:lstStyle/>
          <a:p>
            <a:r>
              <a:rPr lang="en-US" sz="2000" b="1" dirty="0">
                <a:solidFill>
                  <a:srgbClr val="FF0000"/>
                </a:solidFill>
                <a:latin typeface="Arial" pitchFamily="34" charset="0"/>
                <a:cs typeface="Arial" pitchFamily="34" charset="0"/>
              </a:rPr>
              <a:t>ABSTRACT:</a:t>
            </a:r>
          </a:p>
        </p:txBody>
      </p:sp>
      <p:sp>
        <p:nvSpPr>
          <p:cNvPr id="5" name="TextBox 4">
            <a:extLst>
              <a:ext uri="{FF2B5EF4-FFF2-40B4-BE49-F238E27FC236}">
                <a16:creationId xmlns:a16="http://schemas.microsoft.com/office/drawing/2014/main" id="{C2D8F493-DE28-460C-96A0-E486D920820C}"/>
              </a:ext>
            </a:extLst>
          </p:cNvPr>
          <p:cNvSpPr txBox="1"/>
          <p:nvPr/>
        </p:nvSpPr>
        <p:spPr>
          <a:xfrm>
            <a:off x="504825" y="751344"/>
            <a:ext cx="8210550" cy="5355312"/>
          </a:xfrm>
          <a:prstGeom prst="rect">
            <a:avLst/>
          </a:prstGeom>
          <a:noFill/>
        </p:spPr>
        <p:txBody>
          <a:bodyPr wrap="square">
            <a:spAutoFit/>
          </a:bodyPr>
          <a:lstStyle/>
          <a:p>
            <a:r>
              <a:rPr lang="en-US" dirty="0"/>
              <a:t>The rapid expansion of digital enterprise sales has created a critical bottleneck where organizations struggle to rapidly identify high-value prospects hidden within massive volumes of conversational data. Traditional chatbots force a compromise between response speed and analytical depth, resulting in significant "lead leakage" and manual overhead for sales teams. This project presents </a:t>
            </a:r>
            <a:r>
              <a:rPr lang="en-US" b="1" dirty="0" err="1"/>
              <a:t>SalesGPT</a:t>
            </a:r>
            <a:r>
              <a:rPr lang="en-US" dirty="0"/>
              <a:t>, an innovative Asynchronous Dual-Track Agentic Framework designed to transform passive customer support into a proactive, autonomous sales intelligence engine. By decoupling user interaction from intent analysis, </a:t>
            </a:r>
            <a:r>
              <a:rPr lang="en-US" dirty="0" err="1"/>
              <a:t>SalesGPT</a:t>
            </a:r>
            <a:r>
              <a:rPr lang="en-US" dirty="0"/>
              <a:t> eliminates the traditional latency trade-offs found in single-layer Large Language Model (LLM) wrappers.</a:t>
            </a:r>
          </a:p>
          <a:p>
            <a:r>
              <a:rPr lang="en-US" dirty="0"/>
              <a:t>The system operates on two parallel execution tracks to maintain real-time performance. The "Fast Track" utilizes Retrieval-Augmented Generation (RAG), Llama-3.3-70B, and PostgreSQL vector embeddings (</a:t>
            </a:r>
            <a:r>
              <a:rPr lang="en-US" dirty="0" err="1"/>
              <a:t>pgvector</a:t>
            </a:r>
            <a:r>
              <a:rPr lang="en-US" dirty="0"/>
              <a:t>) to deliver highly accurate, hallucination-free product support in under 1.5 seconds. Simultaneously, the "Slow Track" operates asynchronously in the background, deploying a 120B-parameter Judge Agent to silently evaluate the conversation against the industry-standard BANT (Budget, Authority, Need, Timeline) framework. Qualified interactions automatically trigger a pipeline that updates a real-time Kanban CRM dashboard, extracts explicit contact entities using a dedicated extractor agent, synthesizes context-aware email drafts, and applies a time-decay algorithm to maintain pipeline health.</a:t>
            </a:r>
          </a:p>
        </p:txBody>
      </p:sp>
    </p:spTree>
    <p:extLst>
      <p:ext uri="{BB962C8B-B14F-4D97-AF65-F5344CB8AC3E}">
        <p14:creationId xmlns:p14="http://schemas.microsoft.com/office/powerpoint/2010/main" val="2868261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152400"/>
            <a:ext cx="8915400" cy="400110"/>
          </a:xfrm>
          <a:prstGeom prst="rect">
            <a:avLst/>
          </a:prstGeom>
          <a:noFill/>
        </p:spPr>
        <p:txBody>
          <a:bodyPr wrap="square" rtlCol="0">
            <a:spAutoFit/>
          </a:bodyPr>
          <a:lstStyle/>
          <a:p>
            <a:r>
              <a:rPr lang="en-US" sz="2000" b="1" dirty="0">
                <a:solidFill>
                  <a:srgbClr val="FF0000"/>
                </a:solidFill>
                <a:latin typeface="Arial" pitchFamily="34" charset="0"/>
                <a:cs typeface="Arial" pitchFamily="34" charset="0"/>
              </a:rPr>
              <a:t>INTRODUCTION:</a:t>
            </a:r>
          </a:p>
        </p:txBody>
      </p:sp>
      <p:sp>
        <p:nvSpPr>
          <p:cNvPr id="3" name="TextBox 2"/>
          <p:cNvSpPr txBox="1"/>
          <p:nvPr/>
        </p:nvSpPr>
        <p:spPr>
          <a:xfrm>
            <a:off x="342900" y="762000"/>
            <a:ext cx="8458200" cy="5632311"/>
          </a:xfrm>
          <a:prstGeom prst="rect">
            <a:avLst/>
          </a:prstGeom>
          <a:noFill/>
        </p:spPr>
        <p:txBody>
          <a:bodyPr wrap="square" rtlCol="0">
            <a:spAutoFit/>
          </a:bodyPr>
          <a:lstStyle/>
          <a:p>
            <a:r>
              <a:rPr lang="en-US" dirty="0"/>
              <a:t>Modern B2B sales organizations increasingly demand intelligent, automated, and scalable lead qualification solutions. Traditional conversational agents and manual pipeline monitoring methods are often expensive, inflexible, and prone to treating all website visitors equally. To address these challenges, autonomous agentic frameworks have emerged as a powerful alternative—allowing software-defined intelligence to replace manual chat transcript reviews while drastically enhancing lead detection accuracy and responsiveness.</a:t>
            </a:r>
          </a:p>
          <a:p>
            <a:r>
              <a:rPr lang="en-US" dirty="0"/>
              <a:t>This project presents </a:t>
            </a:r>
            <a:r>
              <a:rPr lang="en-US" dirty="0" err="1"/>
              <a:t>SalesGPT</a:t>
            </a:r>
            <a:r>
              <a:rPr lang="en-US" dirty="0"/>
              <a:t>, an Asynchronous Dual-Track Agentic Framework capable of real-time lead qualification and intent scoring across high-volume chat streams. Using advanced natural language processing and deep learning models, the system enables organizations to deploy proactive virtual sales assistants. It automatically identifies when a prospect exhibits high-value purchasing intent by continuously evaluating the conversation against the BANT (Budget, Authority, Need, Timeline) framework.</a:t>
            </a:r>
          </a:p>
          <a:p>
            <a:r>
              <a:rPr lang="en-US" dirty="0"/>
              <a:t>The system integrates Llama-3.3-70B for lightning-fast Retrieval-Augmented Generation (RAG) alongside a 120B-parameter reasoning model, ensuring high accuracy without sacrificing conversational speed. The asynchronous architecture ensures that customer interactions and heavy background analysis are processed independently, maintaining sub-second performance across all chats. When a qualified lead is detected, the system extracts contact entities, logs the event in a PostgreSQL database, and generates an instant, personalized email draft—providing actionable sales intelligence in real time.</a:t>
            </a:r>
          </a:p>
        </p:txBody>
      </p:sp>
    </p:spTree>
    <p:extLst>
      <p:ext uri="{BB962C8B-B14F-4D97-AF65-F5344CB8AC3E}">
        <p14:creationId xmlns:p14="http://schemas.microsoft.com/office/powerpoint/2010/main" val="1838379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152400"/>
            <a:ext cx="8915400" cy="400110"/>
          </a:xfrm>
          <a:prstGeom prst="rect">
            <a:avLst/>
          </a:prstGeom>
          <a:noFill/>
        </p:spPr>
        <p:txBody>
          <a:bodyPr wrap="square" rtlCol="0">
            <a:spAutoFit/>
          </a:bodyPr>
          <a:lstStyle/>
          <a:p>
            <a:r>
              <a:rPr lang="en-US" sz="2000" b="1" dirty="0">
                <a:solidFill>
                  <a:srgbClr val="FF0000"/>
                </a:solidFill>
                <a:latin typeface="Arial" pitchFamily="34" charset="0"/>
                <a:cs typeface="Arial" pitchFamily="34" charset="0"/>
              </a:rPr>
              <a:t>PROBLEM STATEMENT :</a:t>
            </a:r>
          </a:p>
        </p:txBody>
      </p:sp>
      <p:sp>
        <p:nvSpPr>
          <p:cNvPr id="5" name="TextBox 4">
            <a:extLst>
              <a:ext uri="{FF2B5EF4-FFF2-40B4-BE49-F238E27FC236}">
                <a16:creationId xmlns:a16="http://schemas.microsoft.com/office/drawing/2014/main" id="{0267156D-2589-4078-9FAA-EBB71E487BA2}"/>
              </a:ext>
            </a:extLst>
          </p:cNvPr>
          <p:cNvSpPr txBox="1"/>
          <p:nvPr/>
        </p:nvSpPr>
        <p:spPr>
          <a:xfrm>
            <a:off x="381000" y="1305341"/>
            <a:ext cx="8382000" cy="4247317"/>
          </a:xfrm>
          <a:prstGeom prst="rect">
            <a:avLst/>
          </a:prstGeom>
          <a:noFill/>
        </p:spPr>
        <p:txBody>
          <a:bodyPr wrap="square">
            <a:spAutoFit/>
          </a:bodyPr>
          <a:lstStyle/>
          <a:p>
            <a:r>
              <a:rPr lang="en-US" dirty="0"/>
              <a:t>Modern B2B sales organizations face a critical inefficiency: the inability to rapidly and accurately qualify high-value prospects from high-volume conversational data. The key challenges include:</a:t>
            </a:r>
          </a:p>
          <a:p>
            <a:r>
              <a:rPr lang="en-US" b="1" dirty="0"/>
              <a:t>1. Temporal Mismatch &amp; Response Latency</a:t>
            </a:r>
            <a:r>
              <a:rPr lang="en-US" dirty="0"/>
              <a:t> Response speed requirements directly conflict with the computational depth required for complex behavioral analysis. Forcing a single Large Language Model (LLM) to simultaneously chat and reason causes unacceptable multi-second delays, ruining the user experience.</a:t>
            </a:r>
          </a:p>
          <a:p>
            <a:r>
              <a:rPr lang="en-US" b="1" dirty="0"/>
              <a:t>2. Severe Lead Leakage</a:t>
            </a:r>
            <a:r>
              <a:rPr lang="en-US" dirty="0"/>
              <a:t> High-quality enterprise prospects frequently go unrecognized amid voluminous casual inquiries and generic support requests.</a:t>
            </a:r>
          </a:p>
          <a:p>
            <a:r>
              <a:rPr lang="en-US" b="1" dirty="0"/>
              <a:t>3. High Manual Overhead</a:t>
            </a:r>
            <a:r>
              <a:rPr lang="en-US" dirty="0"/>
              <a:t> Sales Development Representatives (SDRs) waste valuable selling hours manually reviewing raw chat transcripts to find, qualify, and score potential leads.</a:t>
            </a:r>
          </a:p>
          <a:p>
            <a:r>
              <a:rPr lang="en-US" b="1" dirty="0"/>
              <a:t>4. Context Loss &amp; Scattered Intelligence</a:t>
            </a:r>
            <a:r>
              <a:rPr lang="en-US" dirty="0"/>
              <a:t> Valuable extracted buyer signals—such as contact information, technical needs, and budget indicators—remain scattered across disparate chat platforms rather than being automatically unified in the CRM.</a:t>
            </a:r>
          </a:p>
        </p:txBody>
      </p:sp>
    </p:spTree>
    <p:extLst>
      <p:ext uri="{BB962C8B-B14F-4D97-AF65-F5344CB8AC3E}">
        <p14:creationId xmlns:p14="http://schemas.microsoft.com/office/powerpoint/2010/main" val="44364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28600"/>
            <a:ext cx="8229600" cy="381000"/>
          </a:xfrm>
          <a:prstGeom prst="rect">
            <a:avLst/>
          </a:prstGeom>
        </p:spPr>
        <p:txBody>
          <a:bodyP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000" b="1" dirty="0">
                <a:solidFill>
                  <a:srgbClr val="FF0000"/>
                </a:solidFill>
                <a:latin typeface="Arial" pitchFamily="34" charset="0"/>
                <a:cs typeface="Arial" pitchFamily="34" charset="0"/>
              </a:rPr>
              <a:t>EXISTING SYSTEM</a:t>
            </a:r>
          </a:p>
        </p:txBody>
      </p:sp>
      <p:sp>
        <p:nvSpPr>
          <p:cNvPr id="4" name="TextBox 3">
            <a:extLst>
              <a:ext uri="{FF2B5EF4-FFF2-40B4-BE49-F238E27FC236}">
                <a16:creationId xmlns:a16="http://schemas.microsoft.com/office/drawing/2014/main" id="{5FD4C202-2ABA-43D0-BC78-E64EB70AB71A}"/>
              </a:ext>
            </a:extLst>
          </p:cNvPr>
          <p:cNvSpPr txBox="1"/>
          <p:nvPr/>
        </p:nvSpPr>
        <p:spPr>
          <a:xfrm>
            <a:off x="457200" y="838200"/>
            <a:ext cx="8518689" cy="5632311"/>
          </a:xfrm>
          <a:prstGeom prst="rect">
            <a:avLst/>
          </a:prstGeom>
          <a:noFill/>
        </p:spPr>
        <p:txBody>
          <a:bodyPr wrap="square">
            <a:spAutoFit/>
          </a:bodyPr>
          <a:lstStyle/>
          <a:p>
            <a:r>
              <a:rPr lang="en-US" dirty="0"/>
              <a:t>Traditional customer support and sales qualification systems primarily rely on manual monitoring or basic automated bots, each with significant limitations:</a:t>
            </a:r>
          </a:p>
          <a:p>
            <a:r>
              <a:rPr lang="en-US" b="1" dirty="0"/>
              <a:t>1. Rule-Based Chatbots &amp; Basic Intent Routing</a:t>
            </a:r>
            <a:r>
              <a:rPr lang="en-US" dirty="0"/>
              <a:t> Most B2B websites use rigid decision trees or simple keyword-matching bots.</a:t>
            </a:r>
          </a:p>
          <a:p>
            <a:pPr>
              <a:buFont typeface="Arial" panose="020B0604020202020204" pitchFamily="34" charset="0"/>
              <a:buChar char="•"/>
            </a:pPr>
            <a:r>
              <a:rPr lang="en-US" dirty="0"/>
              <a:t>Cannot handle unconstrained, natural enterprise dialogue or complex technical questions.</a:t>
            </a:r>
          </a:p>
          <a:p>
            <a:pPr>
              <a:buFont typeface="Arial" panose="020B0604020202020204" pitchFamily="34" charset="0"/>
              <a:buChar char="•"/>
            </a:pPr>
            <a:r>
              <a:rPr lang="en-US" dirty="0"/>
              <a:t>Highly passive; they wait for specific commands rather than proactively qualifying leads.</a:t>
            </a:r>
          </a:p>
          <a:p>
            <a:r>
              <a:rPr lang="en-US" b="1" dirty="0"/>
              <a:t>2. Synchronous Single-Layer LLMs</a:t>
            </a:r>
            <a:r>
              <a:rPr lang="en-US" dirty="0"/>
              <a:t> Standard GPT wrappers that force a strict computational trade-off:</a:t>
            </a:r>
          </a:p>
          <a:p>
            <a:pPr>
              <a:buFont typeface="Arial" panose="020B0604020202020204" pitchFamily="34" charset="0"/>
              <a:buChar char="•"/>
            </a:pPr>
            <a:r>
              <a:rPr lang="en-US" dirty="0"/>
              <a:t>They are either fast but generic, or thoughtful but terribly slow.</a:t>
            </a:r>
          </a:p>
          <a:p>
            <a:pPr>
              <a:buFont typeface="Arial" panose="020B0604020202020204" pitchFamily="34" charset="0"/>
              <a:buChar char="•"/>
            </a:pPr>
            <a:r>
              <a:rPr lang="en-US" dirty="0"/>
              <a:t>Forcing a single model to simultaneously generate dialogue and analyze sales intent causes unacceptable multi-second delays.</a:t>
            </a:r>
          </a:p>
          <a:p>
            <a:r>
              <a:rPr lang="en-US" b="1" dirty="0"/>
              <a:t>3. Manual Pipeline Updates &amp; Lead Review</a:t>
            </a:r>
            <a:r>
              <a:rPr lang="en-US" dirty="0"/>
              <a:t> Current chat tools still heavily rely on human Sales Development Representatives (SDRs).</a:t>
            </a:r>
          </a:p>
          <a:p>
            <a:pPr>
              <a:buFont typeface="Arial" panose="020B0604020202020204" pitchFamily="34" charset="0"/>
              <a:buChar char="•"/>
            </a:pPr>
            <a:r>
              <a:rPr lang="en-US" dirty="0"/>
              <a:t>SDRs must manually read raw chat transcripts, deduce intent, and update CRMs.</a:t>
            </a:r>
          </a:p>
          <a:p>
            <a:pPr>
              <a:buFont typeface="Arial" panose="020B0604020202020204" pitchFamily="34" charset="0"/>
              <a:buChar char="•"/>
            </a:pPr>
            <a:r>
              <a:rPr lang="en-US" dirty="0"/>
              <a:t>Leads to delayed follow-ups, lost context, and high manual overhead.</a:t>
            </a:r>
          </a:p>
          <a:p>
            <a:r>
              <a:rPr lang="en-US" b="1" dirty="0"/>
              <a:t>4. Heuristic-Based Lead Scoring</a:t>
            </a:r>
            <a:r>
              <a:rPr lang="en-US" dirty="0"/>
              <a:t> Traditional automated scoring relies on rigid heuristics (e.g., tracking website clicks or email opens).</a:t>
            </a:r>
          </a:p>
          <a:p>
            <a:pPr>
              <a:buFont typeface="Arial" panose="020B0604020202020204" pitchFamily="34" charset="0"/>
              <a:buChar char="•"/>
            </a:pPr>
            <a:r>
              <a:rPr lang="en-US" dirty="0"/>
              <a:t>Completely fails to semantically analyze the actual conversational data for purchasing intent or budget signals.</a:t>
            </a:r>
          </a:p>
        </p:txBody>
      </p:sp>
    </p:spTree>
    <p:extLst>
      <p:ext uri="{BB962C8B-B14F-4D97-AF65-F5344CB8AC3E}">
        <p14:creationId xmlns:p14="http://schemas.microsoft.com/office/powerpoint/2010/main" val="3224093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81000" y="457200"/>
            <a:ext cx="8839200" cy="342900"/>
          </a:xfrm>
          <a:prstGeom prst="rect">
            <a:avLst/>
          </a:prstGeom>
        </p:spPr>
        <p:txBody>
          <a:bodyPr vert="horz" lIns="91440" tIns="45720" rIns="91440" bIns="45720" rtlCol="0" anchor="ctr">
            <a:normAutofit fontScale="925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2000" b="1" dirty="0">
                <a:solidFill>
                  <a:srgbClr val="FF0000"/>
                </a:solidFill>
                <a:latin typeface="Arial" pitchFamily="34" charset="0"/>
                <a:ea typeface="+mj-ea"/>
                <a:cs typeface="Arial" pitchFamily="34" charset="0"/>
              </a:rPr>
              <a:t>PROPOSED </a:t>
            </a:r>
            <a:r>
              <a:rPr kumimoji="0" lang="en-US" sz="2000" b="1" i="0" u="none" strike="noStrike" kern="1200" cap="none" spc="0" normalizeH="0" baseline="0" noProof="0" dirty="0">
                <a:ln>
                  <a:noFill/>
                </a:ln>
                <a:solidFill>
                  <a:srgbClr val="FF0000"/>
                </a:solidFill>
                <a:effectLst/>
                <a:uLnTx/>
                <a:uFillTx/>
                <a:latin typeface="Arial" pitchFamily="34" charset="0"/>
                <a:ea typeface="+mj-ea"/>
                <a:cs typeface="Arial" pitchFamily="34" charset="0"/>
              </a:rPr>
              <a:t>SYSTEM</a:t>
            </a:r>
          </a:p>
        </p:txBody>
      </p:sp>
      <p:sp>
        <p:nvSpPr>
          <p:cNvPr id="6" name="Rectangle 4">
            <a:extLst>
              <a:ext uri="{FF2B5EF4-FFF2-40B4-BE49-F238E27FC236}">
                <a16:creationId xmlns:a16="http://schemas.microsoft.com/office/drawing/2014/main" id="{D99BE77A-CBE5-49B8-9F7C-6B242BAE82FB}"/>
              </a:ext>
            </a:extLst>
          </p:cNvPr>
          <p:cNvSpPr>
            <a:spLocks noChangeArrowheads="1"/>
          </p:cNvSpPr>
          <p:nvPr/>
        </p:nvSpPr>
        <p:spPr bwMode="auto">
          <a:xfrm>
            <a:off x="381000" y="1045488"/>
            <a:ext cx="8680315"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The proposed </a:t>
            </a:r>
            <a:r>
              <a:rPr kumimoji="0" lang="en-US" altLang="en-US" b="0" i="0" u="none" strike="noStrike" cap="none" normalizeH="0" baseline="0" dirty="0" err="1">
                <a:ln>
                  <a:noFill/>
                </a:ln>
                <a:solidFill>
                  <a:schemeClr val="tx1"/>
                </a:solidFill>
                <a:effectLst/>
                <a:latin typeface="Arial" panose="020B0604020202020204" pitchFamily="34" charset="0"/>
              </a:rPr>
              <a:t>SalesGPT</a:t>
            </a:r>
            <a:r>
              <a:rPr kumimoji="0" lang="en-US" altLang="en-US" b="0" i="0" u="none" strike="noStrike" cap="none" normalizeH="0" baseline="0" dirty="0">
                <a:ln>
                  <a:noFill/>
                </a:ln>
                <a:solidFill>
                  <a:schemeClr val="tx1"/>
                </a:solidFill>
                <a:effectLst/>
                <a:latin typeface="Arial" panose="020B0604020202020204" pitchFamily="34" charset="0"/>
              </a:rPr>
              <a:t> Framework replaces traditional single-layer chatbots with an intelligent, asynchronous, software-driven surveillance solution. It uses real-time Retrieval-Augmented Generation (RAG), semantic analysis, and instant CRM updates to provide a flexible and highly reliable lead qualification mechanism.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Key Components: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Fast Track (Synchronous RAG):</a:t>
            </a:r>
            <a:r>
              <a:rPr kumimoji="0" lang="en-US" altLang="en-US" b="0" i="0" u="none" strike="noStrike" cap="none" normalizeH="0" baseline="0" dirty="0">
                <a:ln>
                  <a:noFill/>
                </a:ln>
                <a:solidFill>
                  <a:schemeClr val="tx1"/>
                </a:solidFill>
                <a:effectLst/>
                <a:latin typeface="Arial" panose="020B0604020202020204" pitchFamily="34" charset="0"/>
              </a:rPr>
              <a:t> Handles immediate user interaction. Queries </a:t>
            </a:r>
            <a:r>
              <a:rPr kumimoji="0" lang="en-US" altLang="en-US" b="0" i="0" u="none" strike="noStrike" cap="none" normalizeH="0" baseline="0" dirty="0" err="1">
                <a:ln>
                  <a:noFill/>
                </a:ln>
                <a:solidFill>
                  <a:schemeClr val="tx1"/>
                </a:solidFill>
                <a:effectLst/>
                <a:latin typeface="Arial Unicode MS"/>
              </a:rPr>
              <a:t>pgvector</a:t>
            </a:r>
            <a:r>
              <a:rPr kumimoji="0" lang="en-US" altLang="en-US" b="0" i="0" u="none" strike="noStrike" cap="none" normalizeH="0" baseline="0" dirty="0">
                <a:ln>
                  <a:noFill/>
                </a:ln>
                <a:solidFill>
                  <a:schemeClr val="tx1"/>
                </a:solidFill>
                <a:effectLst/>
              </a:rPr>
              <a:t> databases and utilizes Llama-3.3-70B to generate highly accurate, context-aware responses in under 1.5 seconds.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Slow Track (Asynchronous Analysis):</a:t>
            </a:r>
            <a:r>
              <a:rPr kumimoji="0" lang="en-US" altLang="en-US" b="0" i="0" u="none" strike="noStrike" cap="none" normalizeH="0" baseline="0" dirty="0">
                <a:ln>
                  <a:noFill/>
                </a:ln>
                <a:solidFill>
                  <a:schemeClr val="tx1"/>
                </a:solidFill>
                <a:effectLst/>
                <a:latin typeface="Arial" panose="020B0604020202020204" pitchFamily="34" charset="0"/>
              </a:rPr>
              <a:t> Executes entirely in the background. A 120B parameter Judge Agent analyzes the conversation transcript for BANT (Budget, Authority, Need, Timeline) signals without blocking the user's chat experience.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Automated CRM Enrichment:</a:t>
            </a:r>
            <a:r>
              <a:rPr kumimoji="0" lang="en-US" altLang="en-US" b="0" i="0" u="none" strike="noStrike" cap="none" normalizeH="0" baseline="0" dirty="0">
                <a:ln>
                  <a:noFill/>
                </a:ln>
                <a:solidFill>
                  <a:schemeClr val="tx1"/>
                </a:solidFill>
                <a:effectLst/>
                <a:latin typeface="Arial" panose="020B0604020202020204" pitchFamily="34" charset="0"/>
              </a:rPr>
              <a:t> Parallel Extractor Agents pull contact data (Name, Email, Role) and update the real-time Kanban pipeline.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Intent-Aware Drafting:</a:t>
            </a:r>
            <a:r>
              <a:rPr kumimoji="0" lang="en-US" altLang="en-US" b="0" i="0" u="none" strike="noStrike" cap="none" normalizeH="0" baseline="0" dirty="0">
                <a:ln>
                  <a:noFill/>
                </a:ln>
                <a:solidFill>
                  <a:schemeClr val="tx1"/>
                </a:solidFill>
                <a:effectLst/>
                <a:latin typeface="Arial" panose="020B0604020202020204" pitchFamily="34" charset="0"/>
              </a:rPr>
              <a:t> The system synthesizes a personalized follow-up email grounded entirely in the exact pricing and specs discussed in the chat.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Time-Decay Algorithm:</a:t>
            </a:r>
            <a:r>
              <a:rPr kumimoji="0" lang="en-US" altLang="en-US" b="0" i="0" u="none" strike="noStrike" cap="none" normalizeH="0" baseline="0" dirty="0">
                <a:ln>
                  <a:noFill/>
                </a:ln>
                <a:solidFill>
                  <a:schemeClr val="tx1"/>
                </a:solidFill>
                <a:effectLst/>
                <a:latin typeface="Arial" panose="020B0604020202020204" pitchFamily="34" charset="0"/>
              </a:rPr>
              <a:t> Automatically degrades the score of inactive leads by 10% daily to keep the pipeline fresh.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32620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8EEC77-BFF0-4877-B5F2-88449E1F39AD}"/>
              </a:ext>
            </a:extLst>
          </p:cNvPr>
          <p:cNvSpPr txBox="1"/>
          <p:nvPr/>
        </p:nvSpPr>
        <p:spPr>
          <a:xfrm>
            <a:off x="457200" y="457200"/>
            <a:ext cx="4572000" cy="369332"/>
          </a:xfrm>
          <a:prstGeom prst="rect">
            <a:avLst/>
          </a:prstGeom>
          <a:noFill/>
        </p:spPr>
        <p:txBody>
          <a:bodyPr wrap="square">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b="1" dirty="0">
                <a:solidFill>
                  <a:srgbClr val="FF0000"/>
                </a:solidFill>
                <a:latin typeface="Arial" pitchFamily="34" charset="0"/>
                <a:ea typeface="+mj-ea"/>
                <a:cs typeface="Arial" pitchFamily="34" charset="0"/>
              </a:rPr>
              <a:t>LITERATURE REVIEW :</a:t>
            </a:r>
            <a:endParaRPr kumimoji="0" lang="en-US" sz="1800" b="1" i="0" u="none" strike="noStrike" kern="1200" cap="none" spc="0" normalizeH="0" baseline="0" noProof="0" dirty="0">
              <a:ln>
                <a:noFill/>
              </a:ln>
              <a:solidFill>
                <a:srgbClr val="FF0000"/>
              </a:solidFill>
              <a:effectLst/>
              <a:uLnTx/>
              <a:uFillTx/>
              <a:latin typeface="Arial" pitchFamily="34" charset="0"/>
              <a:ea typeface="+mj-ea"/>
              <a:cs typeface="Arial" pitchFamily="34" charset="0"/>
            </a:endParaRPr>
          </a:p>
        </p:txBody>
      </p:sp>
      <p:sp>
        <p:nvSpPr>
          <p:cNvPr id="5" name="TextBox 4">
            <a:extLst>
              <a:ext uri="{FF2B5EF4-FFF2-40B4-BE49-F238E27FC236}">
                <a16:creationId xmlns:a16="http://schemas.microsoft.com/office/drawing/2014/main" id="{EE93B2E5-E88D-41C2-9C27-6DEE5D5EBF3B}"/>
              </a:ext>
            </a:extLst>
          </p:cNvPr>
          <p:cNvSpPr txBox="1"/>
          <p:nvPr/>
        </p:nvSpPr>
        <p:spPr>
          <a:xfrm>
            <a:off x="800100" y="1066800"/>
            <a:ext cx="7543800" cy="5078313"/>
          </a:xfrm>
          <a:prstGeom prst="rect">
            <a:avLst/>
          </a:prstGeom>
          <a:noFill/>
        </p:spPr>
        <p:txBody>
          <a:bodyPr wrap="square">
            <a:spAutoFit/>
          </a:bodyPr>
          <a:lstStyle/>
          <a:p>
            <a:r>
              <a:rPr lang="en-US" b="1" dirty="0"/>
              <a:t>1. Retrieval-Augmented Generation (RAG)</a:t>
            </a:r>
            <a:endParaRPr lang="en-US" dirty="0"/>
          </a:p>
          <a:p>
            <a:pPr>
              <a:buFont typeface="Arial" panose="020B0604020202020204" pitchFamily="34" charset="0"/>
              <a:buChar char="•"/>
            </a:pPr>
            <a:r>
              <a:rPr lang="en-US" b="1" dirty="0"/>
              <a:t>Lewis et al. (2020):</a:t>
            </a:r>
            <a:r>
              <a:rPr lang="en-US" dirty="0"/>
              <a:t> Established RAG as the industry standard for grounding LLM responses in proprietary data to mitigate hallucinations. However, their work and subsequent tools (e.g., </a:t>
            </a:r>
            <a:r>
              <a:rPr lang="en-US" dirty="0" err="1"/>
              <a:t>LangChain</a:t>
            </a:r>
            <a:r>
              <a:rPr lang="en-US" dirty="0"/>
              <a:t>) primarily focus on synchronous information retrieval, lacking autonomous background reasoning.</a:t>
            </a:r>
          </a:p>
          <a:p>
            <a:r>
              <a:rPr lang="en-US" b="1" dirty="0"/>
              <a:t>2. LLM-Based Agents and Conversational Systems</a:t>
            </a:r>
            <a:endParaRPr lang="en-US" dirty="0"/>
          </a:p>
          <a:p>
            <a:pPr>
              <a:buFont typeface="Arial" panose="020B0604020202020204" pitchFamily="34" charset="0"/>
              <a:buChar char="•"/>
            </a:pPr>
            <a:r>
              <a:rPr lang="en-US" b="1" dirty="0"/>
              <a:t>Xi et al. (2024):</a:t>
            </a:r>
            <a:r>
              <a:rPr lang="en-US" dirty="0"/>
              <a:t> Surveyed the potential of autonomous agents, highlighting a critical gap in applying structured business frameworks (like BANT) directly to raw conversational data without human intervention.</a:t>
            </a:r>
          </a:p>
          <a:p>
            <a:r>
              <a:rPr lang="en-US" b="1" dirty="0"/>
              <a:t>3. Inference Latency and Instruction Tuning</a:t>
            </a:r>
            <a:endParaRPr lang="en-US" dirty="0"/>
          </a:p>
          <a:p>
            <a:pPr>
              <a:buFont typeface="Arial" panose="020B0604020202020204" pitchFamily="34" charset="0"/>
              <a:buChar char="•"/>
            </a:pPr>
            <a:r>
              <a:rPr lang="en-US" b="1" dirty="0"/>
              <a:t>Peng et al. (2023) &amp; </a:t>
            </a:r>
            <a:r>
              <a:rPr lang="en-US" b="1" dirty="0" err="1"/>
              <a:t>Bubeck</a:t>
            </a:r>
            <a:r>
              <a:rPr lang="en-US" b="1" dirty="0"/>
              <a:t> et al. (2023):</a:t>
            </a:r>
            <a:r>
              <a:rPr lang="en-US" dirty="0"/>
              <a:t> Demonstrated that forcing single-layer LLMs to execute complex reasoning simultaneously with dialogue generation drastically increases inference latency, degrading real-time user experience.</a:t>
            </a:r>
          </a:p>
          <a:p>
            <a:r>
              <a:rPr lang="en-US" b="1" dirty="0"/>
              <a:t>4. Sales Automation and Lead Scoring</a:t>
            </a:r>
            <a:endParaRPr lang="en-US" dirty="0"/>
          </a:p>
          <a:p>
            <a:pPr>
              <a:buFont typeface="Arial" panose="020B0604020202020204" pitchFamily="34" charset="0"/>
              <a:buChar char="•"/>
            </a:pPr>
            <a:r>
              <a:rPr lang="en-US" b="1" dirty="0" err="1"/>
              <a:t>Syam</a:t>
            </a:r>
            <a:r>
              <a:rPr lang="en-US" b="1" dirty="0"/>
              <a:t> and Sharma (2018):</a:t>
            </a:r>
            <a:r>
              <a:rPr lang="en-US" dirty="0"/>
              <a:t> Noted that traditional automated lead scoring heavily relies on rigid heuristics (such as website clicks or email opens) and historical data, rather than deep semantic analysis of live conversational intent.</a:t>
            </a:r>
          </a:p>
        </p:txBody>
      </p:sp>
    </p:spTree>
    <p:extLst>
      <p:ext uri="{BB962C8B-B14F-4D97-AF65-F5344CB8AC3E}">
        <p14:creationId xmlns:p14="http://schemas.microsoft.com/office/powerpoint/2010/main" val="2118586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14F571A-7799-4C2F-92FE-CE5624718C92}"/>
              </a:ext>
            </a:extLst>
          </p:cNvPr>
          <p:cNvSpPr txBox="1"/>
          <p:nvPr/>
        </p:nvSpPr>
        <p:spPr>
          <a:xfrm>
            <a:off x="457200" y="228600"/>
            <a:ext cx="4572000" cy="369332"/>
          </a:xfrm>
          <a:prstGeom prst="rect">
            <a:avLst/>
          </a:prstGeom>
          <a:noFill/>
        </p:spPr>
        <p:txBody>
          <a:bodyPr wrap="square">
            <a:spAutoFit/>
          </a:bodyPr>
          <a:lstStyle/>
          <a:p>
            <a:pPr algn="l"/>
            <a:r>
              <a:rPr lang="en-US" sz="1800" b="1" dirty="0">
                <a:solidFill>
                  <a:srgbClr val="FF0000"/>
                </a:solidFill>
                <a:latin typeface="Arial" pitchFamily="34" charset="0"/>
                <a:cs typeface="Arial" pitchFamily="34" charset="0"/>
              </a:rPr>
              <a:t>SYSTEM ARCHITECTURE</a:t>
            </a:r>
          </a:p>
        </p:txBody>
      </p:sp>
      <p:sp>
        <p:nvSpPr>
          <p:cNvPr id="2" name="Rectangle 1">
            <a:extLst>
              <a:ext uri="{FF2B5EF4-FFF2-40B4-BE49-F238E27FC236}">
                <a16:creationId xmlns:a16="http://schemas.microsoft.com/office/drawing/2014/main" id="{679CA10F-D4F0-4E17-85FF-C55CF99E5819}"/>
              </a:ext>
            </a:extLst>
          </p:cNvPr>
          <p:cNvSpPr>
            <a:spLocks noChangeArrowheads="1"/>
          </p:cNvSpPr>
          <p:nvPr/>
        </p:nvSpPr>
        <p:spPr bwMode="auto">
          <a:xfrm>
            <a:off x="762000" y="889843"/>
            <a:ext cx="762000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1. User Interaction Layer</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React-based Customer Chat Widget (with session persistence) and an Admin Kanban Dashboard featuring real-time UI updates.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2. Orchestration Layer (</a:t>
            </a:r>
            <a:r>
              <a:rPr kumimoji="0" lang="en-US" altLang="en-US" b="1" i="0" u="none" strike="noStrike" cap="none" normalizeH="0" baseline="0" dirty="0" err="1">
                <a:ln>
                  <a:noFill/>
                </a:ln>
                <a:solidFill>
                  <a:schemeClr val="tx1"/>
                </a:solidFill>
                <a:effectLst/>
                <a:latin typeface="Arial" panose="020B0604020202020204" pitchFamily="34" charset="0"/>
              </a:rPr>
              <a:t>FastAPI</a:t>
            </a:r>
            <a:r>
              <a:rPr kumimoji="0" lang="en-US" altLang="en-US" b="1" i="0" u="none" strike="noStrike" cap="none" normalizeH="0" baseline="0" dirty="0">
                <a:ln>
                  <a:noFill/>
                </a:ln>
                <a:solidFill>
                  <a:schemeClr val="tx1"/>
                </a:solidFill>
                <a:effectLst/>
                <a:latin typeface="Arial" panose="020B0604020202020204" pitchFamily="34" charset="0"/>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Securely routes incoming requests, managing synchronous HTTP responses and spawning non-blocking asynchronous background tasks.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3. Fast Track (Foreground - Synchronous)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Executes Retrieval-Augmented Generation (RAG) using </a:t>
            </a:r>
            <a:r>
              <a:rPr kumimoji="0" lang="en-US" altLang="en-US" b="0" i="0" u="none" strike="noStrike" cap="none" normalizeH="0" baseline="0" dirty="0" err="1">
                <a:ln>
                  <a:noFill/>
                </a:ln>
                <a:solidFill>
                  <a:schemeClr val="tx1"/>
                </a:solidFill>
                <a:effectLst/>
                <a:latin typeface="Arial" panose="020B0604020202020204" pitchFamily="34" charset="0"/>
              </a:rPr>
              <a:t>HuggingFace</a:t>
            </a:r>
            <a:r>
              <a:rPr kumimoji="0" lang="en-US" altLang="en-US" b="0" i="0" u="none" strike="noStrike" cap="none" normalizeH="0" baseline="0" dirty="0">
                <a:ln>
                  <a:noFill/>
                </a:ln>
                <a:solidFill>
                  <a:schemeClr val="tx1"/>
                </a:solidFill>
                <a:effectLst/>
                <a:latin typeface="Arial" panose="020B0604020202020204" pitchFamily="34" charset="0"/>
              </a:rPr>
              <a:t> embeddings and Llama-3.3-70B to instantly query </a:t>
            </a:r>
            <a:r>
              <a:rPr kumimoji="0" lang="en-US" altLang="en-US" b="0" i="0" u="none" strike="noStrike" cap="none" normalizeH="0" baseline="0" dirty="0" err="1">
                <a:ln>
                  <a:noFill/>
                </a:ln>
                <a:solidFill>
                  <a:schemeClr val="tx1"/>
                </a:solidFill>
                <a:effectLst/>
                <a:latin typeface="Arial Unicode MS"/>
              </a:rPr>
              <a:t>pgvector</a:t>
            </a:r>
            <a:r>
              <a:rPr kumimoji="0" lang="en-US" altLang="en-US" b="0" i="0" u="none" strike="noStrike" cap="none" normalizeH="0" baseline="0" dirty="0">
                <a:ln>
                  <a:noFill/>
                </a:ln>
                <a:solidFill>
                  <a:schemeClr val="tx1"/>
                </a:solidFill>
                <a:effectLst/>
              </a:rPr>
              <a:t> databases and return context-grounded responses (&lt; 1.5s).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4. Slow Track (Background - Asynchronous)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Parallel execution of the </a:t>
            </a:r>
            <a:r>
              <a:rPr kumimoji="0" lang="en-US" altLang="en-US" b="1" i="0" u="none" strike="noStrike" cap="none" normalizeH="0" baseline="0" dirty="0">
                <a:ln>
                  <a:noFill/>
                </a:ln>
                <a:solidFill>
                  <a:schemeClr val="tx1"/>
                </a:solidFill>
                <a:effectLst/>
                <a:latin typeface="Arial" panose="020B0604020202020204" pitchFamily="34" charset="0"/>
              </a:rPr>
              <a:t>Judge Agent</a:t>
            </a:r>
            <a:r>
              <a:rPr kumimoji="0" lang="en-US" altLang="en-US" b="0" i="0" u="none" strike="noStrike" cap="none" normalizeH="0" baseline="0" dirty="0">
                <a:ln>
                  <a:noFill/>
                </a:ln>
                <a:solidFill>
                  <a:schemeClr val="tx1"/>
                </a:solidFill>
                <a:effectLst/>
                <a:latin typeface="Arial" panose="020B0604020202020204" pitchFamily="34" charset="0"/>
              </a:rPr>
              <a:t> (120B model for BANT scoring), </a:t>
            </a:r>
            <a:r>
              <a:rPr kumimoji="0" lang="en-US" altLang="en-US" b="1" i="0" u="none" strike="noStrike" cap="none" normalizeH="0" baseline="0" dirty="0">
                <a:ln>
                  <a:noFill/>
                </a:ln>
                <a:solidFill>
                  <a:schemeClr val="tx1"/>
                </a:solidFill>
                <a:effectLst/>
                <a:latin typeface="Arial" panose="020B0604020202020204" pitchFamily="34" charset="0"/>
              </a:rPr>
              <a:t>Extractor Agent</a:t>
            </a:r>
            <a:r>
              <a:rPr kumimoji="0" lang="en-US" altLang="en-US" b="0" i="0" u="none" strike="noStrike" cap="none" normalizeH="0" baseline="0" dirty="0">
                <a:ln>
                  <a:noFill/>
                </a:ln>
                <a:solidFill>
                  <a:schemeClr val="tx1"/>
                </a:solidFill>
                <a:effectLst/>
                <a:latin typeface="Arial" panose="020B0604020202020204" pitchFamily="34" charset="0"/>
              </a:rPr>
              <a:t> (contact data retrieval), and </a:t>
            </a:r>
            <a:r>
              <a:rPr kumimoji="0" lang="en-US" altLang="en-US" b="1" i="0" u="none" strike="noStrike" cap="none" normalizeH="0" baseline="0" dirty="0">
                <a:ln>
                  <a:noFill/>
                </a:ln>
                <a:solidFill>
                  <a:schemeClr val="tx1"/>
                </a:solidFill>
                <a:effectLst/>
                <a:latin typeface="Arial" panose="020B0604020202020204" pitchFamily="34" charset="0"/>
              </a:rPr>
              <a:t>Email Drafter</a:t>
            </a:r>
            <a:r>
              <a:rPr kumimoji="0" lang="en-US" altLang="en-US" b="0" i="0" u="none" strike="noStrike" cap="none" normalizeH="0" baseline="0" dirty="0">
                <a:ln>
                  <a:noFill/>
                </a:ln>
                <a:solidFill>
                  <a:schemeClr val="tx1"/>
                </a:solidFill>
                <a:effectLst/>
                <a:latin typeface="Arial" panose="020B0604020202020204" pitchFamily="34" charset="0"/>
              </a:rPr>
              <a:t> without delaying the customer's chat experience.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5. Data Persistence Layer</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Arial" panose="020B0604020202020204" pitchFamily="34" charset="0"/>
              </a:rPr>
              <a:t>Supabase</a:t>
            </a:r>
            <a:r>
              <a:rPr kumimoji="0" lang="en-US" altLang="en-US" b="0" i="0" u="none" strike="noStrike" cap="none" normalizeH="0" baseline="0" dirty="0">
                <a:ln>
                  <a:noFill/>
                </a:ln>
                <a:solidFill>
                  <a:schemeClr val="tx1"/>
                </a:solidFill>
                <a:effectLst/>
                <a:latin typeface="Arial" panose="020B0604020202020204" pitchFamily="34" charset="0"/>
              </a:rPr>
              <a:t> PostgreSQL handling vector embeddings, session histories, and triggering WebSocket broadcasts for real-time CRM updates.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52720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03549C-19A4-4B18-8BB0-E98A63688E26}"/>
              </a:ext>
            </a:extLst>
          </p:cNvPr>
          <p:cNvPicPr>
            <a:picLocks noChangeAspect="1"/>
          </p:cNvPicPr>
          <p:nvPr/>
        </p:nvPicPr>
        <p:blipFill>
          <a:blip r:embed="rId2"/>
          <a:stretch>
            <a:fillRect/>
          </a:stretch>
        </p:blipFill>
        <p:spPr>
          <a:xfrm>
            <a:off x="261997" y="838200"/>
            <a:ext cx="8620005" cy="4705647"/>
          </a:xfrm>
          <a:prstGeom prst="rect">
            <a:avLst/>
          </a:prstGeom>
        </p:spPr>
      </p:pic>
    </p:spTree>
    <p:extLst>
      <p:ext uri="{BB962C8B-B14F-4D97-AF65-F5344CB8AC3E}">
        <p14:creationId xmlns:p14="http://schemas.microsoft.com/office/powerpoint/2010/main" val="3602224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28600" y="152400"/>
            <a:ext cx="8229600" cy="5715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000" b="1" dirty="0">
                <a:solidFill>
                  <a:srgbClr val="FF0000"/>
                </a:solidFill>
                <a:latin typeface="Arial" pitchFamily="34" charset="0"/>
                <a:cs typeface="Arial" pitchFamily="34" charset="0"/>
              </a:rPr>
              <a:t>LIST OF MODULES :</a:t>
            </a:r>
          </a:p>
        </p:txBody>
      </p:sp>
      <p:sp>
        <p:nvSpPr>
          <p:cNvPr id="5" name="Rectangle 2">
            <a:extLst>
              <a:ext uri="{FF2B5EF4-FFF2-40B4-BE49-F238E27FC236}">
                <a16:creationId xmlns:a16="http://schemas.microsoft.com/office/drawing/2014/main" id="{0EFC7175-3CE6-4F9A-9878-88FC8607B80F}"/>
              </a:ext>
            </a:extLst>
          </p:cNvPr>
          <p:cNvSpPr>
            <a:spLocks noChangeArrowheads="1"/>
          </p:cNvSpPr>
          <p:nvPr/>
        </p:nvSpPr>
        <p:spPr bwMode="auto">
          <a:xfrm>
            <a:off x="685800" y="1143000"/>
            <a:ext cx="8077200"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The </a:t>
            </a:r>
            <a:r>
              <a:rPr kumimoji="0" lang="en-US" altLang="en-US" sz="1600" b="0" i="0" u="none" strike="noStrike" cap="none" normalizeH="0" baseline="0" dirty="0" err="1">
                <a:ln>
                  <a:noFill/>
                </a:ln>
                <a:solidFill>
                  <a:schemeClr val="tx1"/>
                </a:solidFill>
                <a:effectLst/>
                <a:latin typeface="Arial" panose="020B0604020202020204" pitchFamily="34" charset="0"/>
              </a:rPr>
              <a:t>SalesGPT</a:t>
            </a:r>
            <a:r>
              <a:rPr kumimoji="0" lang="en-US" altLang="en-US" sz="1600" b="0" i="0" u="none" strike="noStrike" cap="none" normalizeH="0" baseline="0" dirty="0">
                <a:ln>
                  <a:noFill/>
                </a:ln>
                <a:solidFill>
                  <a:schemeClr val="tx1"/>
                </a:solidFill>
                <a:effectLst/>
                <a:latin typeface="Arial" panose="020B0604020202020204" pitchFamily="34" charset="0"/>
              </a:rPr>
              <a:t> framework is built upon a highly decoupled, microservice-inspired architecture comprising the following seven core modules: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1. Customer Interfaces Module</a:t>
            </a:r>
            <a:r>
              <a:rPr kumimoji="0" lang="en-US" altLang="en-US" sz="1600" b="0" i="0" u="none" strike="noStrike" cap="none" normalizeH="0" baseline="0" dirty="0">
                <a:ln>
                  <a:noFill/>
                </a:ln>
                <a:solidFill>
                  <a:schemeClr val="tx1"/>
                </a:solidFill>
                <a:effectLst/>
                <a:latin typeface="Arial" panose="020B0604020202020204" pitchFamily="34" charset="0"/>
              </a:rPr>
              <a:t> Encompasses the React-based Customer Chat Widget (with session persistence) and the real-time Admin Kanban Dashboard.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2. Knowledge Ingestion &amp; RAG Module</a:t>
            </a:r>
            <a:r>
              <a:rPr kumimoji="0" lang="en-US" altLang="en-US" sz="1600" b="0" i="0" u="none" strike="noStrike" cap="none" normalizeH="0" baseline="0" dirty="0">
                <a:ln>
                  <a:noFill/>
                </a:ln>
                <a:solidFill>
                  <a:schemeClr val="tx1"/>
                </a:solidFill>
                <a:effectLst/>
                <a:latin typeface="Arial" panose="020B0604020202020204" pitchFamily="34" charset="0"/>
              </a:rPr>
              <a:t> Handles dynamic Markdown chunking, generation of 384-dimensional vector embeddings via MiniLM-L6-v2, and </a:t>
            </a:r>
            <a:r>
              <a:rPr kumimoji="0" lang="en-US" altLang="en-US" sz="1600" b="0" i="0" u="none" strike="noStrike" cap="none" normalizeH="0" baseline="0" dirty="0" err="1">
                <a:ln>
                  <a:noFill/>
                </a:ln>
                <a:solidFill>
                  <a:schemeClr val="tx1"/>
                </a:solidFill>
                <a:effectLst/>
                <a:latin typeface="Arial Unicode MS"/>
              </a:rPr>
              <a:t>pgvector</a:t>
            </a:r>
            <a:r>
              <a:rPr kumimoji="0" lang="en-US" altLang="en-US" sz="1600" b="0" i="0" u="none" strike="noStrike" cap="none" normalizeH="0" baseline="0" dirty="0">
                <a:ln>
                  <a:noFill/>
                </a:ln>
                <a:solidFill>
                  <a:schemeClr val="tx1"/>
                </a:solidFill>
                <a:effectLst/>
              </a:rPr>
              <a:t> semantic search.</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3. Fast Track Orchestrator Module</a:t>
            </a:r>
            <a:r>
              <a:rPr kumimoji="0" lang="en-US" altLang="en-US" sz="1600" b="0" i="0" u="none" strike="noStrike" cap="none" normalizeH="0" baseline="0" dirty="0">
                <a:ln>
                  <a:noFill/>
                </a:ln>
                <a:solidFill>
                  <a:schemeClr val="tx1"/>
                </a:solidFill>
                <a:effectLst/>
                <a:latin typeface="Arial" panose="020B0604020202020204" pitchFamily="34" charset="0"/>
              </a:rPr>
              <a:t> Manages the synchronous HTTP lifecycle and lightning-fast dialogue generation using the Llama-3.3-70B model.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4. Judge Agent Module</a:t>
            </a:r>
            <a:r>
              <a:rPr kumimoji="0" lang="en-US" altLang="en-US" sz="1600" b="0" i="0" u="none" strike="noStrike" cap="none" normalizeH="0" baseline="0" dirty="0">
                <a:ln>
                  <a:noFill/>
                </a:ln>
                <a:solidFill>
                  <a:schemeClr val="tx1"/>
                </a:solidFill>
                <a:effectLst/>
                <a:latin typeface="Arial" panose="020B0604020202020204" pitchFamily="34" charset="0"/>
              </a:rPr>
              <a:t> Operates asynchronously to perform deep semantic BANT (Budget, Authority, Need, Timeline) scoring using the GPT-OSS-120B model.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5. Extractor Agent Module</a:t>
            </a:r>
            <a:r>
              <a:rPr kumimoji="0" lang="en-US" altLang="en-US" sz="1600" b="0" i="0" u="none" strike="noStrike" cap="none" normalizeH="0" baseline="0" dirty="0">
                <a:ln>
                  <a:noFill/>
                </a:ln>
                <a:solidFill>
                  <a:schemeClr val="tx1"/>
                </a:solidFill>
                <a:effectLst/>
                <a:latin typeface="Arial" panose="020B0604020202020204" pitchFamily="34" charset="0"/>
              </a:rPr>
              <a:t> A deterministic, zero-temperature background agent (Llama-3.1-8B) strictly tasked with identifying and extracting explicit contact entities.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6. Intent Analysis &amp; Email Drafting Module</a:t>
            </a:r>
            <a:r>
              <a:rPr kumimoji="0" lang="en-US" altLang="en-US" sz="1600" b="0" i="0" u="none" strike="noStrike" cap="none" normalizeH="0" baseline="0" dirty="0">
                <a:ln>
                  <a:noFill/>
                </a:ln>
                <a:solidFill>
                  <a:schemeClr val="tx1"/>
                </a:solidFill>
                <a:effectLst/>
                <a:latin typeface="Arial" panose="020B0604020202020204" pitchFamily="34" charset="0"/>
              </a:rPr>
              <a:t> Categorizes the user's purchasing intent and automatically synthesizes context-grounded follow-up emails.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7. Analytics &amp; Time-Decay Module</a:t>
            </a:r>
            <a:r>
              <a:rPr kumimoji="0" lang="en-US" altLang="en-US" sz="1600" b="0" i="0" u="none" strike="noStrike" cap="none" normalizeH="0" baseline="0" dirty="0">
                <a:ln>
                  <a:noFill/>
                </a:ln>
                <a:solidFill>
                  <a:schemeClr val="tx1"/>
                </a:solidFill>
                <a:effectLst/>
                <a:latin typeface="Arial" panose="020B0604020202020204" pitchFamily="34" charset="0"/>
              </a:rPr>
              <a:t> Computes real-time pipeline conversion metrics and automatically degrades the scores of inactive leads by 10% daily.</a:t>
            </a:r>
          </a:p>
        </p:txBody>
      </p:sp>
    </p:spTree>
    <p:extLst>
      <p:ext uri="{BB962C8B-B14F-4D97-AF65-F5344CB8AC3E}">
        <p14:creationId xmlns:p14="http://schemas.microsoft.com/office/powerpoint/2010/main" val="872994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76200" y="152400"/>
            <a:ext cx="8229600" cy="5715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000" b="1" dirty="0">
                <a:solidFill>
                  <a:srgbClr val="FF0000"/>
                </a:solidFill>
                <a:latin typeface="Arial" pitchFamily="34" charset="0"/>
                <a:cs typeface="Arial" pitchFamily="34" charset="0"/>
              </a:rPr>
              <a:t>MODULE DESCRIPTION:</a:t>
            </a:r>
          </a:p>
        </p:txBody>
      </p:sp>
      <p:sp>
        <p:nvSpPr>
          <p:cNvPr id="6" name="Rectangle 2">
            <a:extLst>
              <a:ext uri="{FF2B5EF4-FFF2-40B4-BE49-F238E27FC236}">
                <a16:creationId xmlns:a16="http://schemas.microsoft.com/office/drawing/2014/main" id="{A14C98B4-A6BE-44A9-8F41-4DCD9238138A}"/>
              </a:ext>
            </a:extLst>
          </p:cNvPr>
          <p:cNvSpPr>
            <a:spLocks noChangeArrowheads="1"/>
          </p:cNvSpPr>
          <p:nvPr/>
        </p:nvSpPr>
        <p:spPr bwMode="auto">
          <a:xfrm>
            <a:off x="381000" y="674399"/>
            <a:ext cx="8382000"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1. Customer Interfaces Module</a:t>
            </a:r>
            <a:r>
              <a:rPr kumimoji="0" lang="en-US" altLang="en-US" sz="1600" b="0" i="0" u="none" strike="noStrike" cap="none" normalizeH="0" baseline="0" dirty="0">
                <a:ln>
                  <a:noFill/>
                </a:ln>
                <a:solidFill>
                  <a:schemeClr val="tx1"/>
                </a:solidFill>
                <a:effectLst/>
                <a:latin typeface="Arial" panose="020B0604020202020204" pitchFamily="34" charset="0"/>
              </a:rPr>
              <a:t> Features a React-based Chat Widget with 30-day session persistence and an Admin Dashboard that utilizes </a:t>
            </a:r>
            <a:r>
              <a:rPr kumimoji="0" lang="en-US" altLang="en-US" sz="1600" b="0" i="0" u="none" strike="noStrike" cap="none" normalizeH="0" baseline="0" dirty="0" err="1">
                <a:ln>
                  <a:noFill/>
                </a:ln>
                <a:solidFill>
                  <a:schemeClr val="tx1"/>
                </a:solidFill>
                <a:effectLst/>
                <a:latin typeface="Arial" panose="020B0604020202020204" pitchFamily="34" charset="0"/>
              </a:rPr>
              <a:t>Supabase</a:t>
            </a:r>
            <a:r>
              <a:rPr kumimoji="0" lang="en-US" altLang="en-US" sz="1600" b="0" i="0" u="none" strike="noStrike" cap="none" normalizeH="0" baseline="0" dirty="0">
                <a:ln>
                  <a:noFill/>
                </a:ln>
                <a:solidFill>
                  <a:schemeClr val="tx1"/>
                </a:solidFill>
                <a:effectLst/>
                <a:latin typeface="Arial" panose="020B0604020202020204" pitchFamily="34" charset="0"/>
              </a:rPr>
              <a:t> Realtime subscriptions to visually update a Kanban lead pipeline instantly.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2. Knowledge Ingestion &amp; RAG Module</a:t>
            </a:r>
            <a:r>
              <a:rPr kumimoji="0" lang="en-US" altLang="en-US" sz="1600" b="0" i="0" u="none" strike="noStrike" cap="none" normalizeH="0" baseline="0" dirty="0">
                <a:ln>
                  <a:noFill/>
                </a:ln>
                <a:solidFill>
                  <a:schemeClr val="tx1"/>
                </a:solidFill>
                <a:effectLst/>
                <a:latin typeface="Arial" panose="020B0604020202020204" pitchFamily="34" charset="0"/>
              </a:rPr>
              <a:t> Processes raw Markdown files into 500-character chunks, generates 384-dimensional vector embeddings locally via </a:t>
            </a:r>
            <a:r>
              <a:rPr kumimoji="0" lang="en-US" altLang="en-US" sz="1600" b="0" i="0" u="none" strike="noStrike" cap="none" normalizeH="0" baseline="0" dirty="0">
                <a:ln>
                  <a:noFill/>
                </a:ln>
                <a:solidFill>
                  <a:schemeClr val="tx1"/>
                </a:solidFill>
                <a:effectLst/>
                <a:latin typeface="Arial Unicode MS"/>
              </a:rPr>
              <a:t>all-MiniLM-L6-v2</a:t>
            </a:r>
            <a:r>
              <a:rPr kumimoji="0" lang="en-US" altLang="en-US" sz="1600" b="0" i="0" u="none" strike="noStrike" cap="none" normalizeH="0" baseline="0" dirty="0">
                <a:ln>
                  <a:noFill/>
                </a:ln>
                <a:solidFill>
                  <a:schemeClr val="tx1"/>
                </a:solidFill>
                <a:effectLst/>
              </a:rPr>
              <a:t>, and executes sub-100ms semantic searches using PostgreSQL's </a:t>
            </a:r>
            <a:r>
              <a:rPr kumimoji="0" lang="en-US" altLang="en-US" sz="1600" b="0" i="0" u="none" strike="noStrike" cap="none" normalizeH="0" baseline="0" dirty="0" err="1">
                <a:ln>
                  <a:noFill/>
                </a:ln>
                <a:solidFill>
                  <a:schemeClr val="tx1"/>
                </a:solidFill>
                <a:effectLst/>
                <a:latin typeface="Arial Unicode MS"/>
              </a:rPr>
              <a:t>pgvector</a:t>
            </a:r>
            <a:r>
              <a:rPr kumimoji="0" lang="en-US" altLang="en-US" sz="1600" b="0" i="0" u="none" strike="noStrike" cap="none" normalizeH="0" baseline="0" dirty="0">
                <a:ln>
                  <a:noFill/>
                </a:ln>
                <a:solidFill>
                  <a:schemeClr val="tx1"/>
                </a:solidFill>
                <a:effectLst/>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3. Fast Track Orchestrator Module</a:t>
            </a:r>
            <a:r>
              <a:rPr kumimoji="0" lang="en-US" altLang="en-US" sz="1600" b="0" i="0" u="none" strike="noStrike" cap="none" normalizeH="0" baseline="0" dirty="0">
                <a:ln>
                  <a:noFill/>
                </a:ln>
                <a:solidFill>
                  <a:schemeClr val="tx1"/>
                </a:solidFill>
                <a:effectLst/>
                <a:latin typeface="Arial" panose="020B0604020202020204" pitchFamily="34" charset="0"/>
              </a:rPr>
              <a:t> A </a:t>
            </a:r>
            <a:r>
              <a:rPr kumimoji="0" lang="en-US" altLang="en-US" sz="1600" b="0" i="0" u="none" strike="noStrike" cap="none" normalizeH="0" baseline="0" dirty="0" err="1">
                <a:ln>
                  <a:noFill/>
                </a:ln>
                <a:solidFill>
                  <a:schemeClr val="tx1"/>
                </a:solidFill>
                <a:effectLst/>
                <a:latin typeface="Arial" panose="020B0604020202020204" pitchFamily="34" charset="0"/>
              </a:rPr>
              <a:t>FastAPI</a:t>
            </a:r>
            <a:r>
              <a:rPr kumimoji="0" lang="en-US" altLang="en-US" sz="1600" b="0" i="0" u="none" strike="noStrike" cap="none" normalizeH="0" baseline="0" dirty="0">
                <a:ln>
                  <a:noFill/>
                </a:ln>
                <a:solidFill>
                  <a:schemeClr val="tx1"/>
                </a:solidFill>
                <a:effectLst/>
                <a:latin typeface="Arial" panose="020B0604020202020204" pitchFamily="34" charset="0"/>
              </a:rPr>
              <a:t> backend that manages synchronous HTTP lifecycles and generates highly contextual, hallucination-free dialogue in under 1.5 seconds using the </a:t>
            </a:r>
            <a:r>
              <a:rPr kumimoji="0" lang="en-US" altLang="en-US" sz="1600" b="1" i="0" u="none" strike="noStrike" cap="none" normalizeH="0" baseline="0" dirty="0">
                <a:ln>
                  <a:noFill/>
                </a:ln>
                <a:solidFill>
                  <a:schemeClr val="tx1"/>
                </a:solidFill>
                <a:effectLst/>
                <a:latin typeface="Arial" panose="020B0604020202020204" pitchFamily="34" charset="0"/>
              </a:rPr>
              <a:t>Llama-3.3-70B</a:t>
            </a:r>
            <a:r>
              <a:rPr kumimoji="0" lang="en-US" altLang="en-US" sz="1600" b="0" i="0" u="none" strike="noStrike" cap="none" normalizeH="0" baseline="0" dirty="0">
                <a:ln>
                  <a:noFill/>
                </a:ln>
                <a:solidFill>
                  <a:schemeClr val="tx1"/>
                </a:solidFill>
                <a:effectLst/>
                <a:latin typeface="Arial" panose="020B0604020202020204" pitchFamily="34" charset="0"/>
              </a:rPr>
              <a:t> model.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4. Judge Agent Module (BANT Scoring)</a:t>
            </a:r>
            <a:r>
              <a:rPr kumimoji="0" lang="en-US" altLang="en-US" sz="1600" b="0" i="0" u="none" strike="noStrike" cap="none" normalizeH="0" baseline="0" dirty="0">
                <a:ln>
                  <a:noFill/>
                </a:ln>
                <a:solidFill>
                  <a:schemeClr val="tx1"/>
                </a:solidFill>
                <a:effectLst/>
                <a:latin typeface="Arial" panose="020B0604020202020204" pitchFamily="34" charset="0"/>
              </a:rPr>
              <a:t> An asynchronous background task utilizing </a:t>
            </a:r>
            <a:r>
              <a:rPr kumimoji="0" lang="en-US" altLang="en-US" sz="1600" b="1" i="0" u="none" strike="noStrike" cap="none" normalizeH="0" baseline="0" dirty="0">
                <a:ln>
                  <a:noFill/>
                </a:ln>
                <a:solidFill>
                  <a:schemeClr val="tx1"/>
                </a:solidFill>
                <a:effectLst/>
                <a:latin typeface="Arial" panose="020B0604020202020204" pitchFamily="34" charset="0"/>
              </a:rPr>
              <a:t>GPT-OSS-120B</a:t>
            </a:r>
            <a:r>
              <a:rPr kumimoji="0" lang="en-US" altLang="en-US" sz="1600" b="0" i="0" u="none" strike="noStrike" cap="none" normalizeH="0" baseline="0" dirty="0">
                <a:ln>
                  <a:noFill/>
                </a:ln>
                <a:solidFill>
                  <a:schemeClr val="tx1"/>
                </a:solidFill>
                <a:effectLst/>
                <a:latin typeface="Arial" panose="020B0604020202020204" pitchFamily="34" charset="0"/>
              </a:rPr>
              <a:t> (at zero temperature) to deterministically evaluate conversational psychology against Budget, Authority, Need, and Timeline criteria, outputting a precise 0-100 lead score.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5. Extractor Agent Module</a:t>
            </a:r>
            <a:r>
              <a:rPr kumimoji="0" lang="en-US" altLang="en-US" sz="1600" b="0" i="0" u="none" strike="noStrike" cap="none" normalizeH="0" baseline="0" dirty="0">
                <a:ln>
                  <a:noFill/>
                </a:ln>
                <a:solidFill>
                  <a:schemeClr val="tx1"/>
                </a:solidFill>
                <a:effectLst/>
                <a:latin typeface="Arial" panose="020B0604020202020204" pitchFamily="34" charset="0"/>
              </a:rPr>
              <a:t> A specialized background agent (</a:t>
            </a:r>
            <a:r>
              <a:rPr kumimoji="0" lang="en-US" altLang="en-US" sz="1600" b="1" i="0" u="none" strike="noStrike" cap="none" normalizeH="0" baseline="0" dirty="0">
                <a:ln>
                  <a:noFill/>
                </a:ln>
                <a:solidFill>
                  <a:schemeClr val="tx1"/>
                </a:solidFill>
                <a:effectLst/>
                <a:latin typeface="Arial" panose="020B0604020202020204" pitchFamily="34" charset="0"/>
              </a:rPr>
              <a:t>Llama-3.1-8B</a:t>
            </a:r>
            <a:r>
              <a:rPr kumimoji="0" lang="en-US" altLang="en-US" sz="1600" b="0" i="0" u="none" strike="noStrike" cap="none" normalizeH="0" baseline="0" dirty="0">
                <a:ln>
                  <a:noFill/>
                </a:ln>
                <a:solidFill>
                  <a:schemeClr val="tx1"/>
                </a:solidFill>
                <a:effectLst/>
                <a:latin typeface="Arial" panose="020B0604020202020204" pitchFamily="34" charset="0"/>
              </a:rPr>
              <a:t>) strictly instructed to identify and extract explicit contact entities (Name, Email, Role) without inferring or hallucinating data.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6. Intent Analysis &amp; Email Drafting Module</a:t>
            </a:r>
            <a:r>
              <a:rPr kumimoji="0" lang="en-US" altLang="en-US" sz="1600" b="0" i="0" u="none" strike="noStrike" cap="none" normalizeH="0" baseline="0" dirty="0">
                <a:ln>
                  <a:noFill/>
                </a:ln>
                <a:solidFill>
                  <a:schemeClr val="tx1"/>
                </a:solidFill>
                <a:effectLst/>
                <a:latin typeface="Arial" panose="020B0604020202020204" pitchFamily="34" charset="0"/>
              </a:rPr>
              <a:t> Categorizes the user’s specific purchasing intent (e.g., </a:t>
            </a:r>
            <a:r>
              <a:rPr kumimoji="0" lang="en-US" altLang="en-US" sz="1600" b="0" i="0" u="none" strike="noStrike" cap="none" normalizeH="0" baseline="0" dirty="0" err="1">
                <a:ln>
                  <a:noFill/>
                </a:ln>
                <a:solidFill>
                  <a:schemeClr val="tx1"/>
                </a:solidFill>
                <a:effectLst/>
                <a:latin typeface="Arial Unicode MS"/>
              </a:rPr>
              <a:t>pricing_request</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latin typeface="Arial Unicode MS"/>
              </a:rPr>
              <a:t>technical_specs</a:t>
            </a:r>
            <a:r>
              <a:rPr kumimoji="0" lang="en-US" altLang="en-US" sz="1600" b="0" i="0" u="none" strike="noStrike" cap="none" normalizeH="0" baseline="0" dirty="0">
                <a:ln>
                  <a:noFill/>
                </a:ln>
                <a:solidFill>
                  <a:schemeClr val="tx1"/>
                </a:solidFill>
                <a:effectLst/>
              </a:rPr>
              <a:t>) and synthesizes personalized follow-up emails grounded entirely in the exact numbers discussed in the chat.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7. Analytics &amp; Time-Decay Module</a:t>
            </a:r>
            <a:r>
              <a:rPr kumimoji="0" lang="en-US" altLang="en-US" sz="1600" b="0" i="0" u="none" strike="noStrike" cap="none" normalizeH="0" baseline="0" dirty="0">
                <a:ln>
                  <a:noFill/>
                </a:ln>
                <a:solidFill>
                  <a:schemeClr val="tx1"/>
                </a:solidFill>
                <a:effectLst/>
                <a:latin typeface="Arial" panose="020B0604020202020204" pitchFamily="34" charset="0"/>
              </a:rPr>
              <a:t> Computes real-time pipeline conversion funnels and executes an automated algorithm that degrades inactive lead scores by 10% daily, ensuring pipeline freshness.</a:t>
            </a:r>
          </a:p>
        </p:txBody>
      </p:sp>
    </p:spTree>
    <p:extLst>
      <p:ext uri="{BB962C8B-B14F-4D97-AF65-F5344CB8AC3E}">
        <p14:creationId xmlns:p14="http://schemas.microsoft.com/office/powerpoint/2010/main" val="3773051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52400" y="152400"/>
            <a:ext cx="8229600" cy="4572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000" b="1" dirty="0">
                <a:solidFill>
                  <a:srgbClr val="FF0000"/>
                </a:solidFill>
                <a:latin typeface="Arial" pitchFamily="34" charset="0"/>
                <a:cs typeface="Arial" pitchFamily="34" charset="0"/>
              </a:rPr>
              <a:t>OUTPUT SCREENSHOTS:</a:t>
            </a:r>
          </a:p>
        </p:txBody>
      </p:sp>
      <p:pic>
        <p:nvPicPr>
          <p:cNvPr id="6" name="Picture 5">
            <a:extLst>
              <a:ext uri="{FF2B5EF4-FFF2-40B4-BE49-F238E27FC236}">
                <a16:creationId xmlns:a16="http://schemas.microsoft.com/office/drawing/2014/main" id="{7EFE14EB-62FF-4EBC-80D4-64883457AD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193" y="1295400"/>
            <a:ext cx="8275614" cy="3962400"/>
          </a:xfrm>
          <a:prstGeom prst="rect">
            <a:avLst/>
          </a:prstGeom>
        </p:spPr>
      </p:pic>
      <p:sp>
        <p:nvSpPr>
          <p:cNvPr id="14" name="TextBox 13">
            <a:extLst>
              <a:ext uri="{FF2B5EF4-FFF2-40B4-BE49-F238E27FC236}">
                <a16:creationId xmlns:a16="http://schemas.microsoft.com/office/drawing/2014/main" id="{8CC44F4A-5F9A-4839-8F91-99D421031FD0}"/>
              </a:ext>
            </a:extLst>
          </p:cNvPr>
          <p:cNvSpPr txBox="1"/>
          <p:nvPr/>
        </p:nvSpPr>
        <p:spPr>
          <a:xfrm>
            <a:off x="2438400" y="5715000"/>
            <a:ext cx="4724400" cy="369332"/>
          </a:xfrm>
          <a:prstGeom prst="rect">
            <a:avLst/>
          </a:prstGeom>
          <a:noFill/>
        </p:spPr>
        <p:txBody>
          <a:bodyPr wrap="square" rtlCol="0">
            <a:spAutoFit/>
          </a:bodyPr>
          <a:lstStyle/>
          <a:p>
            <a:pPr algn="ctr"/>
            <a:r>
              <a:rPr lang="en-US" dirty="0">
                <a:latin typeface="Bell MT" panose="02020503060305020303" pitchFamily="18" charset="0"/>
              </a:rPr>
              <a:t>1. Chat Window</a:t>
            </a:r>
            <a:endParaRPr lang="en-IN" dirty="0">
              <a:latin typeface="Bell MT" panose="02020503060305020303" pitchFamily="18" charset="0"/>
            </a:endParaRPr>
          </a:p>
        </p:txBody>
      </p:sp>
    </p:spTree>
    <p:extLst>
      <p:ext uri="{BB962C8B-B14F-4D97-AF65-F5344CB8AC3E}">
        <p14:creationId xmlns:p14="http://schemas.microsoft.com/office/powerpoint/2010/main" val="2197970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2262AE-9EF5-4A70-A2B5-ECAA4E70A9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300" y="1059661"/>
            <a:ext cx="8323400" cy="4738678"/>
          </a:xfrm>
          <a:prstGeom prst="rect">
            <a:avLst/>
          </a:prstGeom>
        </p:spPr>
      </p:pic>
      <p:sp>
        <p:nvSpPr>
          <p:cNvPr id="7" name="TextBox 6">
            <a:extLst>
              <a:ext uri="{FF2B5EF4-FFF2-40B4-BE49-F238E27FC236}">
                <a16:creationId xmlns:a16="http://schemas.microsoft.com/office/drawing/2014/main" id="{2A9C4030-41FC-4805-AEC3-1D990E968FB7}"/>
              </a:ext>
            </a:extLst>
          </p:cNvPr>
          <p:cNvSpPr txBox="1"/>
          <p:nvPr/>
        </p:nvSpPr>
        <p:spPr>
          <a:xfrm>
            <a:off x="2286000" y="6019800"/>
            <a:ext cx="4572000" cy="369332"/>
          </a:xfrm>
          <a:prstGeom prst="rect">
            <a:avLst/>
          </a:prstGeom>
          <a:noFill/>
        </p:spPr>
        <p:txBody>
          <a:bodyPr wrap="square">
            <a:spAutoFit/>
          </a:bodyPr>
          <a:lstStyle/>
          <a:p>
            <a:pPr algn="ctr"/>
            <a:r>
              <a:rPr lang="en-US" dirty="0">
                <a:latin typeface="Bell MT" panose="02020503060305020303" pitchFamily="18" charset="0"/>
              </a:rPr>
              <a:t>2. Pipeline Dashboard</a:t>
            </a:r>
            <a:endParaRPr lang="en-IN" dirty="0">
              <a:latin typeface="Bell MT" panose="02020503060305020303" pitchFamily="18" charset="0"/>
            </a:endParaRPr>
          </a:p>
        </p:txBody>
      </p:sp>
    </p:spTree>
    <p:extLst>
      <p:ext uri="{BB962C8B-B14F-4D97-AF65-F5344CB8AC3E}">
        <p14:creationId xmlns:p14="http://schemas.microsoft.com/office/powerpoint/2010/main" val="1600824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72BFB4-C8F7-42D5-8EFF-BC521272FBB3}"/>
              </a:ext>
            </a:extLst>
          </p:cNvPr>
          <p:cNvPicPr>
            <a:picLocks noChangeAspect="1"/>
          </p:cNvPicPr>
          <p:nvPr/>
        </p:nvPicPr>
        <p:blipFill>
          <a:blip r:embed="rId2"/>
          <a:stretch>
            <a:fillRect/>
          </a:stretch>
        </p:blipFill>
        <p:spPr>
          <a:xfrm>
            <a:off x="550333" y="914400"/>
            <a:ext cx="8043333" cy="4572000"/>
          </a:xfrm>
          <a:prstGeom prst="rect">
            <a:avLst/>
          </a:prstGeom>
        </p:spPr>
      </p:pic>
      <p:sp>
        <p:nvSpPr>
          <p:cNvPr id="5" name="TextBox 4">
            <a:extLst>
              <a:ext uri="{FF2B5EF4-FFF2-40B4-BE49-F238E27FC236}">
                <a16:creationId xmlns:a16="http://schemas.microsoft.com/office/drawing/2014/main" id="{7CF0C73D-3825-4FEF-9FF4-8FF74224BDF2}"/>
              </a:ext>
            </a:extLst>
          </p:cNvPr>
          <p:cNvSpPr txBox="1"/>
          <p:nvPr/>
        </p:nvSpPr>
        <p:spPr>
          <a:xfrm>
            <a:off x="2285999" y="5943600"/>
            <a:ext cx="4572000" cy="369332"/>
          </a:xfrm>
          <a:prstGeom prst="rect">
            <a:avLst/>
          </a:prstGeom>
          <a:noFill/>
        </p:spPr>
        <p:txBody>
          <a:bodyPr wrap="square">
            <a:spAutoFit/>
          </a:bodyPr>
          <a:lstStyle/>
          <a:p>
            <a:pPr algn="ctr"/>
            <a:r>
              <a:rPr lang="en-US" dirty="0">
                <a:latin typeface="Bell MT" panose="02020503060305020303" pitchFamily="18" charset="0"/>
              </a:rPr>
              <a:t>3. Analytics Dashboard</a:t>
            </a:r>
            <a:endParaRPr lang="en-IN" dirty="0">
              <a:latin typeface="Bell MT" panose="02020503060305020303" pitchFamily="18" charset="0"/>
            </a:endParaRPr>
          </a:p>
        </p:txBody>
      </p:sp>
    </p:spTree>
    <p:extLst>
      <p:ext uri="{BB962C8B-B14F-4D97-AF65-F5344CB8AC3E}">
        <p14:creationId xmlns:p14="http://schemas.microsoft.com/office/powerpoint/2010/main" val="2701959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B5945D-5D8E-44F5-82C5-3BA7A1F44889}"/>
              </a:ext>
            </a:extLst>
          </p:cNvPr>
          <p:cNvPicPr>
            <a:picLocks noChangeAspect="1"/>
          </p:cNvPicPr>
          <p:nvPr/>
        </p:nvPicPr>
        <p:blipFill>
          <a:blip r:embed="rId2"/>
          <a:stretch>
            <a:fillRect/>
          </a:stretch>
        </p:blipFill>
        <p:spPr>
          <a:xfrm>
            <a:off x="413173" y="824696"/>
            <a:ext cx="8317653" cy="4737904"/>
          </a:xfrm>
          <a:prstGeom prst="rect">
            <a:avLst/>
          </a:prstGeom>
        </p:spPr>
      </p:pic>
      <p:sp>
        <p:nvSpPr>
          <p:cNvPr id="5" name="TextBox 4">
            <a:extLst>
              <a:ext uri="{FF2B5EF4-FFF2-40B4-BE49-F238E27FC236}">
                <a16:creationId xmlns:a16="http://schemas.microsoft.com/office/drawing/2014/main" id="{03C54C96-86FB-4E8F-BD84-CF34B4CB0DBF}"/>
              </a:ext>
            </a:extLst>
          </p:cNvPr>
          <p:cNvSpPr txBox="1"/>
          <p:nvPr/>
        </p:nvSpPr>
        <p:spPr>
          <a:xfrm>
            <a:off x="2285999" y="5943600"/>
            <a:ext cx="4572000" cy="646331"/>
          </a:xfrm>
          <a:prstGeom prst="rect">
            <a:avLst/>
          </a:prstGeom>
          <a:noFill/>
        </p:spPr>
        <p:txBody>
          <a:bodyPr wrap="square">
            <a:spAutoFit/>
          </a:bodyPr>
          <a:lstStyle/>
          <a:p>
            <a:pPr algn="ctr"/>
            <a:r>
              <a:rPr lang="en-US" dirty="0">
                <a:latin typeface="Bell MT" panose="02020503060305020303" pitchFamily="18" charset="0"/>
              </a:rPr>
              <a:t>4. Activity Dashboard</a:t>
            </a:r>
          </a:p>
          <a:p>
            <a:pPr algn="ctr"/>
            <a:endParaRPr lang="en-IN" dirty="0">
              <a:latin typeface="Bell MT" panose="02020503060305020303" pitchFamily="18" charset="0"/>
            </a:endParaRPr>
          </a:p>
        </p:txBody>
      </p:sp>
    </p:spTree>
    <p:extLst>
      <p:ext uri="{BB962C8B-B14F-4D97-AF65-F5344CB8AC3E}">
        <p14:creationId xmlns:p14="http://schemas.microsoft.com/office/powerpoint/2010/main" val="20950525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0DF846-6912-400C-A2C9-42A8281F3CE8}"/>
              </a:ext>
            </a:extLst>
          </p:cNvPr>
          <p:cNvPicPr>
            <a:picLocks noChangeAspect="1"/>
          </p:cNvPicPr>
          <p:nvPr/>
        </p:nvPicPr>
        <p:blipFill>
          <a:blip r:embed="rId2"/>
          <a:stretch>
            <a:fillRect/>
          </a:stretch>
        </p:blipFill>
        <p:spPr>
          <a:xfrm>
            <a:off x="410210" y="685800"/>
            <a:ext cx="8323579" cy="4733789"/>
          </a:xfrm>
          <a:prstGeom prst="rect">
            <a:avLst/>
          </a:prstGeom>
        </p:spPr>
      </p:pic>
      <p:sp>
        <p:nvSpPr>
          <p:cNvPr id="5" name="TextBox 4">
            <a:extLst>
              <a:ext uri="{FF2B5EF4-FFF2-40B4-BE49-F238E27FC236}">
                <a16:creationId xmlns:a16="http://schemas.microsoft.com/office/drawing/2014/main" id="{549E9678-A0A3-4D2C-9D86-968C39C132A3}"/>
              </a:ext>
            </a:extLst>
          </p:cNvPr>
          <p:cNvSpPr txBox="1"/>
          <p:nvPr/>
        </p:nvSpPr>
        <p:spPr>
          <a:xfrm>
            <a:off x="2285999" y="5838428"/>
            <a:ext cx="4572000" cy="369332"/>
          </a:xfrm>
          <a:prstGeom prst="rect">
            <a:avLst/>
          </a:prstGeom>
          <a:noFill/>
        </p:spPr>
        <p:txBody>
          <a:bodyPr wrap="square">
            <a:spAutoFit/>
          </a:bodyPr>
          <a:lstStyle/>
          <a:p>
            <a:pPr algn="ctr"/>
            <a:r>
              <a:rPr lang="en-US" dirty="0">
                <a:latin typeface="Bell MT" panose="02020503060305020303" pitchFamily="18" charset="0"/>
              </a:rPr>
              <a:t>5. Knowledge Base </a:t>
            </a:r>
            <a:endParaRPr lang="en-IN" dirty="0">
              <a:latin typeface="Bell MT" panose="02020503060305020303" pitchFamily="18" charset="0"/>
            </a:endParaRPr>
          </a:p>
        </p:txBody>
      </p:sp>
    </p:spTree>
    <p:extLst>
      <p:ext uri="{BB962C8B-B14F-4D97-AF65-F5344CB8AC3E}">
        <p14:creationId xmlns:p14="http://schemas.microsoft.com/office/powerpoint/2010/main" val="16070775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447F93D-D40D-4AF5-964E-A6464CB2CA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680" y="914400"/>
            <a:ext cx="4245571" cy="4191000"/>
          </a:xfrm>
          <a:prstGeom prst="rect">
            <a:avLst/>
          </a:prstGeom>
        </p:spPr>
      </p:pic>
      <p:pic>
        <p:nvPicPr>
          <p:cNvPr id="5" name="Picture 4">
            <a:extLst>
              <a:ext uri="{FF2B5EF4-FFF2-40B4-BE49-F238E27FC236}">
                <a16:creationId xmlns:a16="http://schemas.microsoft.com/office/drawing/2014/main" id="{A160640E-D80B-4D85-B569-839650AA66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9251" y="2270331"/>
            <a:ext cx="4205306" cy="2317338"/>
          </a:xfrm>
          <a:prstGeom prst="rect">
            <a:avLst/>
          </a:prstGeom>
        </p:spPr>
      </p:pic>
      <p:sp>
        <p:nvSpPr>
          <p:cNvPr id="7" name="TextBox 6">
            <a:extLst>
              <a:ext uri="{FF2B5EF4-FFF2-40B4-BE49-F238E27FC236}">
                <a16:creationId xmlns:a16="http://schemas.microsoft.com/office/drawing/2014/main" id="{A2142438-D190-4FEC-A7EF-B6E5048C3039}"/>
              </a:ext>
            </a:extLst>
          </p:cNvPr>
          <p:cNvSpPr txBox="1"/>
          <p:nvPr/>
        </p:nvSpPr>
        <p:spPr>
          <a:xfrm>
            <a:off x="70465" y="5334000"/>
            <a:ext cx="4572000" cy="369332"/>
          </a:xfrm>
          <a:prstGeom prst="rect">
            <a:avLst/>
          </a:prstGeom>
          <a:noFill/>
        </p:spPr>
        <p:txBody>
          <a:bodyPr wrap="square">
            <a:spAutoFit/>
          </a:bodyPr>
          <a:lstStyle/>
          <a:p>
            <a:pPr algn="ctr"/>
            <a:r>
              <a:rPr lang="en-US" dirty="0">
                <a:latin typeface="Bell MT" panose="02020503060305020303" pitchFamily="18" charset="0"/>
              </a:rPr>
              <a:t>6. Database Schema</a:t>
            </a:r>
            <a:endParaRPr lang="en-IN" dirty="0">
              <a:latin typeface="Bell MT" panose="02020503060305020303" pitchFamily="18" charset="0"/>
            </a:endParaRPr>
          </a:p>
        </p:txBody>
      </p:sp>
      <p:sp>
        <p:nvSpPr>
          <p:cNvPr id="8" name="TextBox 7">
            <a:extLst>
              <a:ext uri="{FF2B5EF4-FFF2-40B4-BE49-F238E27FC236}">
                <a16:creationId xmlns:a16="http://schemas.microsoft.com/office/drawing/2014/main" id="{F7D87257-5801-4CF9-968A-5EFE5847776F}"/>
              </a:ext>
            </a:extLst>
          </p:cNvPr>
          <p:cNvSpPr txBox="1"/>
          <p:nvPr/>
        </p:nvSpPr>
        <p:spPr>
          <a:xfrm>
            <a:off x="4260344" y="4816269"/>
            <a:ext cx="4572000" cy="369332"/>
          </a:xfrm>
          <a:prstGeom prst="rect">
            <a:avLst/>
          </a:prstGeom>
          <a:noFill/>
        </p:spPr>
        <p:txBody>
          <a:bodyPr wrap="square">
            <a:spAutoFit/>
          </a:bodyPr>
          <a:lstStyle/>
          <a:p>
            <a:pPr algn="ctr"/>
            <a:r>
              <a:rPr lang="en-US" dirty="0">
                <a:latin typeface="Bell MT" panose="02020503060305020303" pitchFamily="18" charset="0"/>
              </a:rPr>
              <a:t>7. Data Ingestion Terminal Output</a:t>
            </a:r>
            <a:endParaRPr lang="en-IN" dirty="0">
              <a:latin typeface="Bell MT" panose="02020503060305020303" pitchFamily="18" charset="0"/>
            </a:endParaRPr>
          </a:p>
        </p:txBody>
      </p:sp>
    </p:spTree>
    <p:extLst>
      <p:ext uri="{BB962C8B-B14F-4D97-AF65-F5344CB8AC3E}">
        <p14:creationId xmlns:p14="http://schemas.microsoft.com/office/powerpoint/2010/main" val="3290186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28600" y="495300"/>
            <a:ext cx="8229600" cy="571500"/>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000" b="1" dirty="0">
                <a:solidFill>
                  <a:srgbClr val="FF0000"/>
                </a:solidFill>
                <a:latin typeface="Arial" pitchFamily="34" charset="0"/>
                <a:cs typeface="Arial" pitchFamily="34" charset="0"/>
              </a:rPr>
              <a:t>CONCLUSION :</a:t>
            </a:r>
          </a:p>
        </p:txBody>
      </p:sp>
      <p:sp>
        <p:nvSpPr>
          <p:cNvPr id="3" name="Rectangle 1">
            <a:extLst>
              <a:ext uri="{FF2B5EF4-FFF2-40B4-BE49-F238E27FC236}">
                <a16:creationId xmlns:a16="http://schemas.microsoft.com/office/drawing/2014/main" id="{14E7B010-EEFC-4166-B2AD-6414B28CDE56}"/>
              </a:ext>
            </a:extLst>
          </p:cNvPr>
          <p:cNvSpPr>
            <a:spLocks noChangeArrowheads="1"/>
          </p:cNvSpPr>
          <p:nvPr/>
        </p:nvSpPr>
        <p:spPr bwMode="auto">
          <a:xfrm>
            <a:off x="457200" y="1403866"/>
            <a:ext cx="82296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Resolution of the Speed vs. Intelligence Trade-off:</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SalesGPT</a:t>
            </a:r>
            <a:r>
              <a:rPr kumimoji="0" lang="en-US" altLang="en-US" sz="1600" b="0" i="0" u="none" strike="noStrike" cap="none" normalizeH="0" baseline="0" dirty="0">
                <a:ln>
                  <a:noFill/>
                </a:ln>
                <a:solidFill>
                  <a:schemeClr val="tx1"/>
                </a:solidFill>
                <a:effectLst/>
                <a:latin typeface="Arial" panose="020B0604020202020204" pitchFamily="34" charset="0"/>
              </a:rPr>
              <a:t> successfully resolves a critical bottleneck in B2B sales by proving that enterprise conversational agents no longer need to sacrifice analytical depth for real-time responsiveness.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Architectural Success:</a:t>
            </a:r>
            <a:r>
              <a:rPr kumimoji="0" lang="en-US" altLang="en-US" sz="1600" b="0" i="0" u="none" strike="noStrike" cap="none" normalizeH="0" baseline="0" dirty="0">
                <a:ln>
                  <a:noFill/>
                </a:ln>
                <a:solidFill>
                  <a:schemeClr val="tx1"/>
                </a:solidFill>
                <a:effectLst/>
                <a:latin typeface="Arial" panose="020B0604020202020204" pitchFamily="34" charset="0"/>
              </a:rPr>
              <a:t> The Asynchronous Dual-Track Framework demonstrates that systems can deliver sub-second (&lt;1.5s) RAG-powered support while simultaneously executing complex, 120B-parameter BANT lead scoring in the background.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Elimination of Manual Overhead:</a:t>
            </a:r>
            <a:r>
              <a:rPr kumimoji="0" lang="en-US" altLang="en-US" sz="1600" b="0" i="0" u="none" strike="noStrike" cap="none" normalizeH="0" baseline="0" dirty="0">
                <a:ln>
                  <a:noFill/>
                </a:ln>
                <a:solidFill>
                  <a:schemeClr val="tx1"/>
                </a:solidFill>
                <a:effectLst/>
                <a:latin typeface="Arial" panose="020B0604020202020204" pitchFamily="34" charset="0"/>
              </a:rPr>
              <a:t> By fully automating lead qualification, contact entity extraction, and intent-aware email drafting, the system successfully eliminates manual CRM data entry and prevents "lead leakage."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Final Impact:</a:t>
            </a:r>
            <a:r>
              <a:rPr kumimoji="0" lang="en-US" altLang="en-US" sz="1600" b="0" i="0" u="none" strike="noStrike" cap="none" normalizeH="0" baseline="0" dirty="0">
                <a:ln>
                  <a:noFill/>
                </a:ln>
                <a:solidFill>
                  <a:schemeClr val="tx1"/>
                </a:solidFill>
                <a:effectLst/>
                <a:latin typeface="Arial" panose="020B0604020202020204" pitchFamily="34" charset="0"/>
              </a:rPr>
              <a:t> Ultimately, </a:t>
            </a:r>
            <a:r>
              <a:rPr kumimoji="0" lang="en-US" altLang="en-US" sz="1600" b="0" i="0" u="none" strike="noStrike" cap="none" normalizeH="0" baseline="0" dirty="0" err="1">
                <a:ln>
                  <a:noFill/>
                </a:ln>
                <a:solidFill>
                  <a:schemeClr val="tx1"/>
                </a:solidFill>
                <a:effectLst/>
                <a:latin typeface="Arial" panose="020B0604020202020204" pitchFamily="34" charset="0"/>
              </a:rPr>
              <a:t>SalesGPT</a:t>
            </a:r>
            <a:r>
              <a:rPr kumimoji="0" lang="en-US" altLang="en-US" sz="1600" b="0" i="0" u="none" strike="noStrike" cap="none" normalizeH="0" baseline="0" dirty="0">
                <a:ln>
                  <a:noFill/>
                </a:ln>
                <a:solidFill>
                  <a:schemeClr val="tx1"/>
                </a:solidFill>
                <a:effectLst/>
                <a:latin typeface="Arial" panose="020B0604020202020204" pitchFamily="34" charset="0"/>
              </a:rPr>
              <a:t> provides a highly scalable, cost-effective solution that transforms passive customer support interfaces into 24/7 proactive revenue engines, empowering sales teams to focus exclusively on high-value, qualified prospects.</a:t>
            </a:r>
          </a:p>
        </p:txBody>
      </p:sp>
    </p:spTree>
    <p:extLst>
      <p:ext uri="{BB962C8B-B14F-4D97-AF65-F5344CB8AC3E}">
        <p14:creationId xmlns:p14="http://schemas.microsoft.com/office/powerpoint/2010/main" val="22238758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04800" y="76200"/>
            <a:ext cx="8229600" cy="4572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000" b="1" dirty="0">
                <a:solidFill>
                  <a:srgbClr val="FF0000"/>
                </a:solidFill>
                <a:latin typeface="Arial" pitchFamily="34" charset="0"/>
                <a:cs typeface="Arial" pitchFamily="34" charset="0"/>
              </a:rPr>
              <a:t>REFERENCES</a:t>
            </a:r>
          </a:p>
        </p:txBody>
      </p:sp>
      <p:sp>
        <p:nvSpPr>
          <p:cNvPr id="3" name="Rectangle 1">
            <a:extLst>
              <a:ext uri="{FF2B5EF4-FFF2-40B4-BE49-F238E27FC236}">
                <a16:creationId xmlns:a16="http://schemas.microsoft.com/office/drawing/2014/main" id="{C81CE6CF-CEE4-4C37-BDC2-8D2FBABCCB44}"/>
              </a:ext>
            </a:extLst>
          </p:cNvPr>
          <p:cNvSpPr>
            <a:spLocks noChangeArrowheads="1"/>
          </p:cNvSpPr>
          <p:nvPr/>
        </p:nvSpPr>
        <p:spPr bwMode="auto">
          <a:xfrm>
            <a:off x="492760" y="1143000"/>
            <a:ext cx="80772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Lewis, P., et al. (2020). Retrieval-Augmented Generation for Knowledge-Intensive NLP Tasks. </a:t>
            </a:r>
            <a:r>
              <a:rPr kumimoji="0" lang="en-US" altLang="en-US" sz="1800" b="0" i="1" u="none" strike="noStrike" cap="none" normalizeH="0" baseline="0" dirty="0" err="1">
                <a:ln>
                  <a:noFill/>
                </a:ln>
                <a:solidFill>
                  <a:schemeClr val="tx1"/>
                </a:solidFill>
                <a:effectLst/>
                <a:latin typeface="Arial" panose="020B0604020202020204" pitchFamily="34" charset="0"/>
              </a:rPr>
              <a:t>NeurIPS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Brown, T., et al. (2020). Language Models are Few-Shot Learners. </a:t>
            </a:r>
            <a:r>
              <a:rPr kumimoji="0" lang="en-US" altLang="en-US" sz="1800" b="0" i="1" u="none" strike="noStrike" cap="none" normalizeH="0" baseline="0" dirty="0" err="1">
                <a:ln>
                  <a:noFill/>
                </a:ln>
                <a:solidFill>
                  <a:schemeClr val="tx1"/>
                </a:solidFill>
                <a:effectLst/>
                <a:latin typeface="Arial" panose="020B0604020202020204" pitchFamily="34" charset="0"/>
              </a:rPr>
              <a:t>NeurIPS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Johnson, J., et al. (2017). Billion-scale similarity search with GPUs. </a:t>
            </a:r>
            <a:r>
              <a:rPr kumimoji="0" lang="en-US" altLang="en-US" sz="1800" b="0" i="1" u="none" strike="noStrike" cap="none" normalizeH="0" baseline="0" dirty="0" err="1">
                <a:ln>
                  <a:noFill/>
                </a:ln>
                <a:solidFill>
                  <a:schemeClr val="tx1"/>
                </a:solidFill>
                <a:effectLst/>
                <a:latin typeface="Arial" panose="020B0604020202020204" pitchFamily="34" charset="0"/>
              </a:rPr>
              <a:t>arXiv</a:t>
            </a:r>
            <a:r>
              <a:rPr kumimoji="0" lang="en-US" altLang="en-US" sz="1800" b="0" i="1" u="none" strike="noStrike" cap="none" normalizeH="0" baseline="0" dirty="0">
                <a:ln>
                  <a:noFill/>
                </a:ln>
                <a:solidFill>
                  <a:schemeClr val="tx1"/>
                </a:solidFill>
                <a:effectLst/>
                <a:latin typeface="Arial" panose="020B0604020202020204" pitchFamily="34" charset="0"/>
              </a:rPr>
              <a:t> preprint</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err="1">
                <a:ln>
                  <a:noFill/>
                </a:ln>
                <a:solidFill>
                  <a:schemeClr val="tx1"/>
                </a:solidFill>
                <a:effectLst/>
                <a:latin typeface="Arial" panose="020B0604020202020204" pitchFamily="34" charset="0"/>
              </a:rPr>
              <a:t>Tiangolo</a:t>
            </a:r>
            <a:r>
              <a:rPr kumimoji="0" lang="en-US" altLang="en-US" sz="1800" b="0" i="0" u="none" strike="noStrike" cap="none" normalizeH="0" baseline="0" dirty="0">
                <a:ln>
                  <a:noFill/>
                </a:ln>
                <a:solidFill>
                  <a:schemeClr val="tx1"/>
                </a:solidFill>
                <a:effectLst/>
                <a:latin typeface="Arial" panose="020B0604020202020204" pitchFamily="34" charset="0"/>
              </a:rPr>
              <a:t> (2024). </a:t>
            </a:r>
            <a:r>
              <a:rPr kumimoji="0" lang="en-US" altLang="en-US" sz="1800" b="0" i="0" u="none" strike="noStrike" cap="none" normalizeH="0" baseline="0" dirty="0" err="1">
                <a:ln>
                  <a:noFill/>
                </a:ln>
                <a:solidFill>
                  <a:schemeClr val="tx1"/>
                </a:solidFill>
                <a:effectLst/>
                <a:latin typeface="Arial" panose="020B0604020202020204" pitchFamily="34" charset="0"/>
              </a:rPr>
              <a:t>FastAPI</a:t>
            </a:r>
            <a:r>
              <a:rPr kumimoji="0" lang="en-US" altLang="en-US" sz="1800" b="0" i="0" u="none" strike="noStrike" cap="none" normalizeH="0" baseline="0" dirty="0">
                <a:ln>
                  <a:noFill/>
                </a:ln>
                <a:solidFill>
                  <a:schemeClr val="tx1"/>
                </a:solidFill>
                <a:effectLst/>
                <a:latin typeface="Arial" panose="020B0604020202020204" pitchFamily="34" charset="0"/>
              </a:rPr>
              <a:t> Documentation. </a:t>
            </a:r>
            <a:r>
              <a:rPr kumimoji="0" lang="en-US" altLang="en-US" sz="1800" b="0" i="1" u="none" strike="noStrike" cap="none" normalizeH="0" baseline="0" dirty="0" err="1">
                <a:ln>
                  <a:noFill/>
                </a:ln>
                <a:solidFill>
                  <a:schemeClr val="tx1"/>
                </a:solidFill>
                <a:effectLst/>
                <a:latin typeface="Arial" panose="020B0604020202020204" pitchFamily="34" charset="0"/>
              </a:rPr>
              <a:t>FastAPI</a:t>
            </a:r>
            <a:r>
              <a:rPr kumimoji="0" lang="en-US" altLang="en-US" sz="1800" b="0" i="1" u="none" strike="noStrike" cap="none" normalizeH="0" baseline="0" dirty="0">
                <a:ln>
                  <a:noFill/>
                </a:ln>
                <a:solidFill>
                  <a:schemeClr val="tx1"/>
                </a:solidFill>
                <a:effectLst/>
                <a:latin typeface="Arial" panose="020B0604020202020204" pitchFamily="34" charset="0"/>
              </a:rPr>
              <a:t> Web Framework</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err="1">
                <a:ln>
                  <a:noFill/>
                </a:ln>
                <a:solidFill>
                  <a:schemeClr val="tx1"/>
                </a:solidFill>
                <a:effectLst/>
                <a:latin typeface="Arial" panose="020B0604020202020204" pitchFamily="34" charset="0"/>
              </a:rPr>
              <a:t>Supabase</a:t>
            </a:r>
            <a:r>
              <a:rPr kumimoji="0" lang="en-US" altLang="en-US" sz="1800" b="0" i="0" u="none" strike="noStrike" cap="none" normalizeH="0" baseline="0" dirty="0">
                <a:ln>
                  <a:noFill/>
                </a:ln>
                <a:solidFill>
                  <a:schemeClr val="tx1"/>
                </a:solidFill>
                <a:effectLst/>
                <a:latin typeface="Arial" panose="020B0604020202020204" pitchFamily="34" charset="0"/>
              </a:rPr>
              <a:t>, Inc. (2024). PostgreSQL and </a:t>
            </a:r>
            <a:r>
              <a:rPr kumimoji="0" lang="en-US" altLang="en-US" sz="1800" b="0" i="0" u="none" strike="noStrike" cap="none" normalizeH="0" baseline="0" dirty="0" err="1">
                <a:ln>
                  <a:noFill/>
                </a:ln>
                <a:solidFill>
                  <a:schemeClr val="tx1"/>
                </a:solidFill>
                <a:effectLst/>
                <a:latin typeface="Arial" panose="020B0604020202020204" pitchFamily="34" charset="0"/>
              </a:rPr>
              <a:t>pgvector</a:t>
            </a:r>
            <a:r>
              <a:rPr kumimoji="0" lang="en-US" altLang="en-US" sz="1800" b="0" i="0" u="none" strike="noStrike" cap="none" normalizeH="0" baseline="0" dirty="0">
                <a:ln>
                  <a:noFill/>
                </a:ln>
                <a:solidFill>
                  <a:schemeClr val="tx1"/>
                </a:solidFill>
                <a:effectLst/>
                <a:latin typeface="Arial" panose="020B0604020202020204" pitchFamily="34" charset="0"/>
              </a:rPr>
              <a:t> Extension Documentation.</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err="1">
                <a:ln>
                  <a:noFill/>
                </a:ln>
                <a:solidFill>
                  <a:schemeClr val="tx1"/>
                </a:solidFill>
                <a:effectLst/>
                <a:latin typeface="Arial" panose="020B0604020202020204" pitchFamily="34" charset="0"/>
              </a:rPr>
              <a:t>LangChain</a:t>
            </a:r>
            <a:r>
              <a:rPr kumimoji="0" lang="en-US" altLang="en-US" sz="1800" b="0" i="0" u="none" strike="noStrike" cap="none" normalizeH="0" baseline="0" dirty="0">
                <a:ln>
                  <a:noFill/>
                </a:ln>
                <a:solidFill>
                  <a:schemeClr val="tx1"/>
                </a:solidFill>
                <a:effectLst/>
                <a:latin typeface="Arial" panose="020B0604020202020204" pitchFamily="34" charset="0"/>
              </a:rPr>
              <a:t> AI (2024). </a:t>
            </a:r>
            <a:r>
              <a:rPr kumimoji="0" lang="en-US" altLang="en-US" sz="1800" b="0" i="0" u="none" strike="noStrike" cap="none" normalizeH="0" baseline="0" dirty="0" err="1">
                <a:ln>
                  <a:noFill/>
                </a:ln>
                <a:solidFill>
                  <a:schemeClr val="tx1"/>
                </a:solidFill>
                <a:effectLst/>
                <a:latin typeface="Arial" panose="020B0604020202020204" pitchFamily="34" charset="0"/>
              </a:rPr>
              <a:t>LangChain</a:t>
            </a:r>
            <a:r>
              <a:rPr kumimoji="0" lang="en-US" altLang="en-US" sz="1800" b="0" i="0" u="none" strike="noStrike" cap="none" normalizeH="0" baseline="0" dirty="0">
                <a:ln>
                  <a:noFill/>
                </a:ln>
                <a:solidFill>
                  <a:schemeClr val="tx1"/>
                </a:solidFill>
                <a:effectLst/>
                <a:latin typeface="Arial" panose="020B0604020202020204" pitchFamily="34" charset="0"/>
              </a:rPr>
              <a:t> Framework Documentation.</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err="1">
                <a:ln>
                  <a:noFill/>
                </a:ln>
                <a:solidFill>
                  <a:schemeClr val="tx1"/>
                </a:solidFill>
                <a:effectLst/>
                <a:latin typeface="Arial" panose="020B0604020202020204" pitchFamily="34" charset="0"/>
              </a:rPr>
              <a:t>Groq</a:t>
            </a:r>
            <a:r>
              <a:rPr kumimoji="0" lang="en-US" altLang="en-US" sz="1800" b="0" i="0" u="none" strike="noStrike" cap="none" normalizeH="0" baseline="0" dirty="0">
                <a:ln>
                  <a:noFill/>
                </a:ln>
                <a:solidFill>
                  <a:schemeClr val="tx1"/>
                </a:solidFill>
                <a:effectLst/>
                <a:latin typeface="Arial" panose="020B0604020202020204" pitchFamily="34" charset="0"/>
              </a:rPr>
              <a:t>, Inc. (2024). </a:t>
            </a:r>
            <a:r>
              <a:rPr kumimoji="0" lang="en-US" altLang="en-US" sz="1800" b="0" i="0" u="none" strike="noStrike" cap="none" normalizeH="0" baseline="0" dirty="0" err="1">
                <a:ln>
                  <a:noFill/>
                </a:ln>
                <a:solidFill>
                  <a:schemeClr val="tx1"/>
                </a:solidFill>
                <a:effectLst/>
                <a:latin typeface="Arial" panose="020B0604020202020204" pitchFamily="34" charset="0"/>
              </a:rPr>
              <a:t>Groq</a:t>
            </a:r>
            <a:r>
              <a:rPr kumimoji="0" lang="en-US" altLang="en-US" sz="1800" b="0" i="0" u="none" strike="noStrike" cap="none" normalizeH="0" baseline="0" dirty="0">
                <a:ln>
                  <a:noFill/>
                </a:ln>
                <a:solidFill>
                  <a:schemeClr val="tx1"/>
                </a:solidFill>
                <a:effectLst/>
                <a:latin typeface="Arial" panose="020B0604020202020204" pitchFamily="34" charset="0"/>
              </a:rPr>
              <a:t> LPU Inference Engine API Documentation.</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Reimers, N., &amp; </a:t>
            </a:r>
            <a:r>
              <a:rPr kumimoji="0" lang="en-US" altLang="en-US" sz="1800" b="0" i="0" u="none" strike="noStrike" cap="none" normalizeH="0" baseline="0" dirty="0" err="1">
                <a:ln>
                  <a:noFill/>
                </a:ln>
                <a:solidFill>
                  <a:schemeClr val="tx1"/>
                </a:solidFill>
                <a:effectLst/>
                <a:latin typeface="Arial" panose="020B0604020202020204" pitchFamily="34" charset="0"/>
              </a:rPr>
              <a:t>Gurevych</a:t>
            </a:r>
            <a:r>
              <a:rPr kumimoji="0" lang="en-US" altLang="en-US" sz="1800" b="0" i="0" u="none" strike="noStrike" cap="none" normalizeH="0" baseline="0" dirty="0">
                <a:ln>
                  <a:noFill/>
                </a:ln>
                <a:solidFill>
                  <a:schemeClr val="tx1"/>
                </a:solidFill>
                <a:effectLst/>
                <a:latin typeface="Arial" panose="020B0604020202020204" pitchFamily="34" charset="0"/>
              </a:rPr>
              <a:t>, I. (2019). Sentence-BERT: Sentence Embeddings using Siamese BERT-Networks (</a:t>
            </a:r>
            <a:r>
              <a:rPr kumimoji="0" lang="en-US" altLang="en-US" sz="1800" b="0" i="0" u="none" strike="noStrike" cap="none" normalizeH="0" baseline="0" dirty="0" err="1">
                <a:ln>
                  <a:noFill/>
                </a:ln>
                <a:solidFill>
                  <a:schemeClr val="tx1"/>
                </a:solidFill>
                <a:effectLst/>
                <a:latin typeface="Arial" panose="020B0604020202020204" pitchFamily="34" charset="0"/>
              </a:rPr>
              <a:t>HuggingFace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EMNLP</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BANT Sales Framework (2024). </a:t>
            </a:r>
            <a:r>
              <a:rPr kumimoji="0" lang="en-US" altLang="en-US" sz="1800" b="0" i="1" u="none" strike="noStrike" cap="none" normalizeH="0" baseline="0" dirty="0">
                <a:ln>
                  <a:noFill/>
                </a:ln>
                <a:solidFill>
                  <a:schemeClr val="tx1"/>
                </a:solidFill>
                <a:effectLst/>
                <a:latin typeface="Arial" panose="020B0604020202020204" pitchFamily="34" charset="0"/>
              </a:rPr>
              <a:t>Enterprise Sales Enablement Best Practices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40637066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202</TotalTime>
  <Words>2172</Words>
  <Application>Microsoft Office PowerPoint</Application>
  <PresentationFormat>On-screen Show (4:3)</PresentationFormat>
  <Paragraphs>104</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Arial Unicode MS</vt:lpstr>
      <vt:lpstr>Bahnschrift</vt:lpstr>
      <vt:lpstr>Bahnschrift SemiBold Condensed</vt:lpstr>
      <vt:lpstr>Bell MT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c:creator>
  <cp:lastModifiedBy>shyam jayakumar</cp:lastModifiedBy>
  <cp:revision>15</cp:revision>
  <dcterms:created xsi:type="dcterms:W3CDTF">2025-11-04T09:41:30Z</dcterms:created>
  <dcterms:modified xsi:type="dcterms:W3CDTF">2026-03-18T14:35:07Z</dcterms:modified>
</cp:coreProperties>
</file>